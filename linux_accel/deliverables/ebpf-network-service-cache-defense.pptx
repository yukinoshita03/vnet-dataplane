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e92a0718c54fda" /><Relationship Type="http://schemas.openxmlformats.org/officeDocument/2006/relationships/extended-properties" Target="/docProps/app.xml" Id="R44f68bf839634a7d" /><Relationship Type="http://schemas.openxmlformats.org/officeDocument/2006/relationships/officeDocument" Target="/ppt/presentation.xml" Id="R321df706789c40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4f76dbf75444a6"/>
  </p:sldMasterIdLst>
  <p:notesMasterIdLst>
    <p:notesMasterId xmlns:r="http://schemas.openxmlformats.org/officeDocument/2006/relationships" r:id="R49dc4b93703c433b"/>
  </p:notesMasterIdLst>
  <p:sldIdLst>
    <p:sldId xmlns:r="http://schemas.openxmlformats.org/officeDocument/2006/relationships" id="256" r:id="R915f5f624636491b"/>
    <p:sldId xmlns:r="http://schemas.openxmlformats.org/officeDocument/2006/relationships" id="257" r:id="R7f4dc803262d4a2f"/>
    <p:sldId xmlns:r="http://schemas.openxmlformats.org/officeDocument/2006/relationships" id="258" r:id="R6387f5f60b0342aa"/>
    <p:sldId xmlns:r="http://schemas.openxmlformats.org/officeDocument/2006/relationships" id="259" r:id="R4b9ca61b79c04039"/>
    <p:sldId xmlns:r="http://schemas.openxmlformats.org/officeDocument/2006/relationships" id="260" r:id="R99c9b1cd5c6d465e"/>
    <p:sldId xmlns:r="http://schemas.openxmlformats.org/officeDocument/2006/relationships" id="261" r:id="R269a763e14174e4d"/>
    <p:sldId xmlns:r="http://schemas.openxmlformats.org/officeDocument/2006/relationships" id="262" r:id="Ra3054873b3ec4fad"/>
    <p:sldId xmlns:r="http://schemas.openxmlformats.org/officeDocument/2006/relationships" id="263" r:id="Ra38a2863acda4bb7"/>
    <p:sldId xmlns:r="http://schemas.openxmlformats.org/officeDocument/2006/relationships" id="264" r:id="Rc93a46f18d474ed3"/>
    <p:sldId xmlns:r="http://schemas.openxmlformats.org/officeDocument/2006/relationships" id="265" r:id="Rb78b80dbebc9455e"/>
    <p:sldId xmlns:r="http://schemas.openxmlformats.org/officeDocument/2006/relationships" id="266" r:id="Rc8ee1b0400214ce2"/>
    <p:sldId xmlns:r="http://schemas.openxmlformats.org/officeDocument/2006/relationships" id="267" r:id="R65e25d45d48644b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83c3162e854f11" /><Relationship Type="http://schemas.openxmlformats.org/officeDocument/2006/relationships/slideMaster" Target="/ppt/slideMasters/slideMaster1.xml" Id="Re04f76dbf75444a6" /><Relationship Type="http://schemas.openxmlformats.org/officeDocument/2006/relationships/notesMaster" Target="/ppt/notesMasters/notesMaster1.xml" Id="R49dc4b93703c433b" /><Relationship Type="http://schemas.openxmlformats.org/officeDocument/2006/relationships/presProps" Target="/ppt/presProps.xml" Id="Rf2ad1082c69d4b4b" /><Relationship Type="http://schemas.openxmlformats.org/officeDocument/2006/relationships/tableStyles" Target="/ppt/tableStyles.xml" Id="R6a3714f58eb547ca" /><Relationship Type="http://schemas.openxmlformats.org/officeDocument/2006/relationships/slide" Target="/ppt/slides/slide1.xml" Id="R915f5f624636491b" /><Relationship Type="http://schemas.openxmlformats.org/officeDocument/2006/relationships/slide" Target="/ppt/slides/slide2.xml" Id="R7f4dc803262d4a2f" /><Relationship Type="http://schemas.openxmlformats.org/officeDocument/2006/relationships/slide" Target="/ppt/slides/slide3.xml" Id="R6387f5f60b0342aa" /><Relationship Type="http://schemas.openxmlformats.org/officeDocument/2006/relationships/slide" Target="/ppt/slides/slide4.xml" Id="R4b9ca61b79c04039" /><Relationship Type="http://schemas.openxmlformats.org/officeDocument/2006/relationships/slide" Target="/ppt/slides/slide5.xml" Id="R99c9b1cd5c6d465e" /><Relationship Type="http://schemas.openxmlformats.org/officeDocument/2006/relationships/slide" Target="/ppt/slides/slide6.xml" Id="R269a763e14174e4d" /><Relationship Type="http://schemas.openxmlformats.org/officeDocument/2006/relationships/slide" Target="/ppt/slides/slide7.xml" Id="Ra3054873b3ec4fad" /><Relationship Type="http://schemas.openxmlformats.org/officeDocument/2006/relationships/slide" Target="/ppt/slides/slide8.xml" Id="Ra38a2863acda4bb7" /><Relationship Type="http://schemas.openxmlformats.org/officeDocument/2006/relationships/slide" Target="/ppt/slides/slide9.xml" Id="Rc93a46f18d474ed3" /><Relationship Type="http://schemas.openxmlformats.org/officeDocument/2006/relationships/slide" Target="/ppt/slides/slide10.xml" Id="Rb78b80dbebc9455e" /><Relationship Type="http://schemas.openxmlformats.org/officeDocument/2006/relationships/slide" Target="/ppt/slides/slide11.xml" Id="Rc8ee1b0400214ce2" /><Relationship Type="http://schemas.openxmlformats.org/officeDocument/2006/relationships/slide" Target="/ppt/slides/slide12.xml" Id="R65e25d45d48644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b3455daeef44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93834710604b50" /><Relationship Type="http://schemas.openxmlformats.org/officeDocument/2006/relationships/notesMaster" Target="/ppt/notesMasters/notesMaster1.xml" Id="R3cd471737ce74d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54623fa6fa4b5f" /><Relationship Type="http://schemas.openxmlformats.org/officeDocument/2006/relationships/notesMaster" Target="/ppt/notesMasters/notesMaster1.xml" Id="Red24f511ff1542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3f1679063d4f3b" /><Relationship Type="http://schemas.openxmlformats.org/officeDocument/2006/relationships/notesMaster" Target="/ppt/notesMasters/notesMaster1.xml" Id="R382aafb87ea04c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af81bf04224439" /><Relationship Type="http://schemas.openxmlformats.org/officeDocument/2006/relationships/notesMaster" Target="/ppt/notesMasters/notesMaster1.xml" Id="R06644587527b4d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cfd89effd3419d" /><Relationship Type="http://schemas.openxmlformats.org/officeDocument/2006/relationships/notesMaster" Target="/ppt/notesMasters/notesMaster1.xml" Id="R0f8cc61a624641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9c94c4c5204dc4" /><Relationship Type="http://schemas.openxmlformats.org/officeDocument/2006/relationships/notesMaster" Target="/ppt/notesMasters/notesMaster1.xml" Id="R122f9ec48fae4f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4bb21756694810" /><Relationship Type="http://schemas.openxmlformats.org/officeDocument/2006/relationships/notesMaster" Target="/ppt/notesMasters/notesMaster1.xml" Id="R2e61304a3c284d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829c1e14134c35" /><Relationship Type="http://schemas.openxmlformats.org/officeDocument/2006/relationships/notesMaster" Target="/ppt/notesMasters/notesMaster1.xml" Id="R907cd3c221a148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8bc6505f694314" /><Relationship Type="http://schemas.openxmlformats.org/officeDocument/2006/relationships/notesMaster" Target="/ppt/notesMasters/notesMaster1.xml" Id="R8126a918c92d46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326b127e7a4f2e" /><Relationship Type="http://schemas.openxmlformats.org/officeDocument/2006/relationships/notesMaster" Target="/ppt/notesMasters/notesMaster1.xml" Id="Rd4c6b3daf68d47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50b5210f5f4165" /><Relationship Type="http://schemas.openxmlformats.org/officeDocument/2006/relationships/notesMaster" Target="/ppt/notesMasters/notesMaster1.xml" Id="R4a5003bff58e4e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05ba8ca6f44b76" /><Relationship Type="http://schemas.openxmlformats.org/officeDocument/2006/relationships/notesMaster" Target="/ppt/notesMasters/notesMaster1.xml" Id="R7b118dc0e2804c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c2d6f74cad4e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6bada44c964c64" /><Relationship Type="http://schemas.openxmlformats.org/officeDocument/2006/relationships/slideLayout" Target="/ppt/slideLayouts/slideLayout1.xml" Id="R8e63cd93c50b4e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63cd93c50b4e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2bc9020bc486a" /><Relationship Type="http://schemas.openxmlformats.org/officeDocument/2006/relationships/image" Target="/ppt/media/image.png" Id="R1c8d6b4191b446b9" /><Relationship Type="http://schemas.openxmlformats.org/officeDocument/2006/relationships/notesSlide" Target="/ppt/notesSlides/notesSlide1.xml" Id="Ra0c602005b8241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3657ec3854af0" /><Relationship Type="http://schemas.openxmlformats.org/officeDocument/2006/relationships/notesSlide" Target="/ppt/notesSlides/notesSlide2.xml" Id="R1bd49a19a34c4d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8c4263e1f4397" /><Relationship Type="http://schemas.openxmlformats.org/officeDocument/2006/relationships/notesSlide" Target="/ppt/notesSlides/notesSlide3.xml" Id="R708e4497b26846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d9baf31354bd2" /><Relationship Type="http://schemas.openxmlformats.org/officeDocument/2006/relationships/notesSlide" Target="/ppt/notesSlides/notesSlide4.xml" Id="R44a24a9dfdee45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e099e5c044dc9" /><Relationship Type="http://schemas.openxmlformats.org/officeDocument/2006/relationships/notesSlide" Target="/ppt/notesSlides/notesSlide5.xml" Id="R088cdb24160e48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fcdd165cd4129" /><Relationship Type="http://schemas.openxmlformats.org/officeDocument/2006/relationships/notesSlide" Target="/ppt/notesSlides/notesSlide6.xml" Id="R80683cf42ea34c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1547cee714325" /><Relationship Type="http://schemas.openxmlformats.org/officeDocument/2006/relationships/notesSlide" Target="/ppt/notesSlides/notesSlide7.xml" Id="R7f8b7d10d5e04a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354e73ee3441a" /><Relationship Type="http://schemas.openxmlformats.org/officeDocument/2006/relationships/notesSlide" Target="/ppt/notesSlides/notesSlide8.xml" Id="Re7cef7fd34e94c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802b586da4462" /><Relationship Type="http://schemas.openxmlformats.org/officeDocument/2006/relationships/chart" Target="/ppt/slides/charts/chart1.xml" Id="R6fa5059429c64940" /><Relationship Type="http://schemas.openxmlformats.org/officeDocument/2006/relationships/notesSlide" Target="/ppt/notesSlides/notesSlide9.xml" Id="R27ad68ac3e9346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2c03cafdc40cb" /><Relationship Type="http://schemas.openxmlformats.org/officeDocument/2006/relationships/notesSlide" Target="/ppt/notesSlides/notesSlide10.xml" Id="Rf778c462fb6a4a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5c1b1e09a4939" /><Relationship Type="http://schemas.openxmlformats.org/officeDocument/2006/relationships/notesSlide" Target="/ppt/notesSlides/notesSlide11.xml" Id="R55fef46b10f046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11f12b6b949d8" /><Relationship Type="http://schemas.openxmlformats.org/officeDocument/2006/relationships/notesSlide" Target="/ppt/notesSlides/notesSlide12.xml" Id="R8d22f7444b2444b7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QPS</c:v>
          </c:tx>
          <c:spPr>
            <a:solidFill xmlns:a="http://schemas.openxmlformats.org/drawingml/2006/main">
              <a:srgbClr val="0EA5E9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userspace</c:v>
              </c:pt>
              <c:pt idx="1">
                <c:v>Xpress DNS</c:v>
              </c:pt>
              <c:pt idx="2">
                <c:v>本项目</c:v>
              </c:pt>
            </c:strLit>
          </c:cat>
          <c:val>
            <c:numLit>
              <c:formatCode>General</c:formatCode>
              <c:ptCount val="3"/>
              <c:pt idx="0">
                <c:v>65771.87</c:v>
              </c:pt>
              <c:pt idx="1">
                <c:v>385295.75</c:v>
              </c:pt>
              <c:pt idx="2">
                <c:v>413933.01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dnsperf QPS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d6b4191b446b9"/>
          <a:stretch xmlns:a="http://schemas.openxmlformats.org/drawingml/2006/main"/>
        </p:blipFill>
        <p:spPr>
          <a:xfrm xmlns:a="http://schemas.openxmlformats.org/drawingml/2006/main">
            <a:off x="2746844" y="323850"/>
            <a:ext cx="2888311" cy="6858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16DCF-72AD-4003-B224-6A3355F2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819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基于 eBPF 的网络服务加速</a:t>
            </a:r>
          </a:p>
          <a:p xmlns:a="http://schemas.openxmlformats.org/drawingml/2006/main">
            <a:pPr algn="l"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与双端缓存系统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52E7C-5E82-4EEB-9EE0-376F048C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DNS XDP Cache · gRPC Fast Cache · OpenStack / Kubernetes 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91B65-6361-425D-86CB-9CC112B1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D17F1-E242-40AB-A54A-A50C86B6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719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172A"/>
                </a:solidFill>
              </a:defRPr>
            </a:pPr>
            <a:r>
              <a:rPr sz="975" b="1">
                <a:solidFill>
                  <a:srgbClr val="0F172A"/>
                </a:solidFill>
              </a:rPr>
              <a:t>OS 功能挑战赛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87713-FBFF-4E35-A092-0DAE5866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052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0918B-C93B-462C-84BA-85D04634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719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172A"/>
                </a:solidFill>
              </a:defRPr>
            </a:pPr>
            <a:r>
              <a:rPr sz="975" b="1">
                <a:solidFill>
                  <a:srgbClr val="0F172A"/>
                </a:solidFill>
              </a:rPr>
              <a:t>B 级 · 学术型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74002-4DF5-40B6-BE38-11AF145B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05250"/>
            <a:ext cx="87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51F85-EDC8-4222-9766-D3511EDA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9719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172A"/>
                </a:solidFill>
              </a:defRPr>
            </a:pPr>
            <a:r>
              <a:rPr sz="975" b="1">
                <a:solidFill>
                  <a:srgbClr val="0F172A"/>
                </a:solidFill>
              </a:rPr>
              <a:t>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9A5AA-CF94-45C5-827E-FC92FC43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0020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CAFC4-1055-4565-89C8-2EC0B07D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2857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B384FF-F90E-4355-A707-F4EEDDD8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336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</a:defRPr>
            </a:pPr>
            <a:r>
              <a:rPr sz="1275" b="1">
                <a:solidFill>
                  <a:srgbClr val="475569"/>
                </a:solidFill>
              </a:rPr>
              <a:t>DNS QPS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8FB4A-784C-4037-96CF-863B8A18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71725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A5E9"/>
                </a:solidFill>
              </a:defRPr>
            </a:pPr>
            <a:r>
              <a:rPr sz="2550" b="1">
                <a:solidFill>
                  <a:srgbClr val="0EA5E9"/>
                </a:solidFill>
              </a:rPr>
              <a:t>7.14x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716BB-89C0-44A1-8C78-E692F14A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p99 提升 182.52x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14407F-BB93-4ED1-AC3C-D42FFFB5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2857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FDC2DB-9460-47FA-9A19-FCB43474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099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</a:defRPr>
            </a:pPr>
            <a:r>
              <a:rPr sz="1275" b="1">
                <a:solidFill>
                  <a:srgbClr val="475569"/>
                </a:solidFill>
              </a:rPr>
              <a:t>gRPC QPS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BCE7F5-2E87-489E-A3CA-4C80EF26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48075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7316"/>
                </a:solidFill>
              </a:defRPr>
            </a:pPr>
            <a:r>
              <a:rPr sz="2550" b="1">
                <a:solidFill>
                  <a:srgbClr val="F97316"/>
                </a:solidFill>
              </a:rPr>
              <a:t>3.69x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EDC088-1CAC-4C48-BA0B-8586F84C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767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p99 提升 3.33x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DECE76-BC35-4025-B905-A712534B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OS 功能挑战赛 · eBPF 网络服务加速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9EFE1E-ED49-4DB4-9BAF-7DE9928C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417987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FEE259-6D8E-43A5-9647-D95BEC93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E9"/>
                </a:solidFill>
              </a:defRPr>
            </a:pPr>
            <a:r>
              <a:rPr sz="1200" b="1">
                <a:solidFill>
                  <a:srgbClr val="0EA5E9"/>
                </a:solidFill>
              </a:rPr>
              <a:t>基于 eBPF 的网络服务加速与双端缓存系统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94202-E75C-49FA-99E8-1C20419C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赛题目标与项目完成度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63031-5A42-41CA-B072-D22AE0DF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B5962-43E1-441B-9A08-456BBD9B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7FD23-5718-4E00-8153-22C86442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531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利用 eBPF 实时监控网络服务性能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B6E81-AE6B-4806-84A1-B42A9F13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75DB9-171B-42A1-A81A-82B7346D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531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在内核或快路径上处理可缓存请求，降低服务端负载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1DF70-B28B-45F2-8F86-E9871660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B0D67-0E94-4374-B10D-8B6934EA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531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支持两种以上服务：DNS 与 gRPC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6DB3E-5E21-437A-90BB-B3A831A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F42E7-C6A3-4B4A-904B-D8DB65F8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31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面向虚拟化和云原生路径补充 OpenStack / Kubernetes 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C1461-65FB-432A-A4E7-C08EF34F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095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6665B-B793-403D-8131-34A54B47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240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A5E9"/>
                </a:solidFill>
              </a:defRPr>
            </a:pPr>
            <a:r>
              <a:rPr sz="1575" b="1">
                <a:solidFill>
                  <a:srgbClr val="0EA5E9"/>
                </a:solidFill>
              </a:rPr>
              <a:t>实时监控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7F21E7-A327-4418-886D-9CFAF32B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526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DNS tc / gRPC tc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B858E-1343-4494-B226-D154310B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4095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6655DB-909A-40E8-8BA3-4AFB9E7B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003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A5E9"/>
                </a:solidFill>
              </a:defRPr>
            </a:pPr>
            <a:r>
              <a:rPr sz="1575" b="1">
                <a:solidFill>
                  <a:srgbClr val="0EA5E9"/>
                </a:solidFill>
              </a:rPr>
              <a:t>性能优化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2E5188-933E-44A8-9699-2342B6DB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289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DNS XDP / gRPC Fast 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C56EAE-0437-4AE2-A2AE-FCCD237E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62350"/>
            <a:ext cx="4095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570822-908B-4D6B-98DF-436F89BD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766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A5E9"/>
                </a:solidFill>
              </a:defRPr>
            </a:pPr>
            <a:r>
              <a:rPr sz="1575" b="1">
                <a:solidFill>
                  <a:srgbClr val="0EA5E9"/>
                </a:solidFill>
              </a:rPr>
              <a:t>双端缓存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24F0A8-D16F-463E-B1FF-A75CB149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052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统一策略 + 设计文档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F7569C-C0D8-4A0C-9DC7-9C8AE7FC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38650"/>
            <a:ext cx="4095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BF88AF-2279-4014-874B-EF4B7AC4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529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A5E9"/>
                </a:solidFill>
              </a:defRPr>
            </a:pPr>
            <a:r>
              <a:rPr sz="1575" b="1">
                <a:solidFill>
                  <a:srgbClr val="0EA5E9"/>
                </a:solidFill>
              </a:rPr>
              <a:t>实验举证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233BDE-89BC-4280-A51C-1FC7DEFB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815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benchmark + workload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6A16E7-F4CC-48D5-8FBA-3B31B6C4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OS 功能挑战赛 · eBPF 网络服务加速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4AE463-4642-4B99-ABEB-7A6276D4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49047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893A61-7473-4457-A1AC-0B7A56A8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E9"/>
                </a:solidFill>
              </a:defRPr>
            </a:pPr>
            <a:r>
              <a:rPr sz="1200" b="1">
                <a:solidFill>
                  <a:srgbClr val="0EA5E9"/>
                </a:solidFill>
              </a:rPr>
              <a:t>基于 eBPF 的网络服务加速与双端缓存系统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86F5C-E03B-43BF-9FC7-5B051594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系统架构：监控、策略与快路径分离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8766E-1A98-4F74-8C03-930E4361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241A5-A450-49E4-88B0-6A217330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71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71FFF-B54A-4A68-99F4-6FE8351D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客户端 / Pod / VM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3A857-A390-440B-AF20-63884403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DDBC4-1E9B-45B6-A11C-77985702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003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tc / XDP eBPF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CF8A4-2770-42EA-8BD3-A21F3AD7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90750"/>
            <a:ext cx="200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60699-1A70-4B14-9303-3335520A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DNS / gRPC 服务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1FB799-7843-4C09-81DA-1E55F556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0642A-96E6-4CD1-915E-D03FB1D6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用户态控制面</a:t>
            </a:r>
          </a:p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cachectl / monitor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2A0A4-5EA3-42F4-8B29-7C466349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336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755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68CE2-39D8-4CB7-8A62-5B813360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336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755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3F9715-AC43-48A8-A49A-BFD9F0AF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336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973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8133DD-4C5D-46CD-9497-7397E613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E748F-4A6F-4366-9D89-4DF6B167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385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dns_cache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32609F-8DB2-4B0C-80A3-D3DB6B4D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14750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211C85-439D-4C2A-9433-77197D20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385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grpc_policy_map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25FB4B-9869-4C8B-883A-13CB409A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ED730-912B-4EB9-97E1-92874593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385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metrics / ringbuf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97CB74-7572-436A-9A96-2056BAE8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14750"/>
            <a:ext cx="0" cy="-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D896DF-C4F2-41CE-AD6D-BCA34192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714750"/>
            <a:ext cx="-1857375" cy="-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BBFB90-7B3D-4939-8EC9-1B81E6BB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1285875" cy="-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3FE986-2C5E-4304-9D30-08E1C692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核心思路：tc 做双向观测和基线，XDP 处理 DNS 缓存命中，gRPC 用策略控制的 h2c unary 快缓存证明第二服务加速路径。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D6126E-E2D1-488D-95E1-C5E4265F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OS 功能挑战赛 · eBPF 网络服务加速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A5EA5D-85D2-4CE1-A975-D077E3FC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392355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2BEE50-6B9C-4427-AAB7-BDD4A5B3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E9"/>
                </a:solidFill>
              </a:defRPr>
            </a:pPr>
            <a:r>
              <a:rPr sz="1200" b="1">
                <a:solidFill>
                  <a:srgbClr val="0EA5E9"/>
                </a:solidFill>
              </a:rPr>
              <a:t>基于 eBPF 的网络服务加速与双端缓存系统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589DE-449D-47B0-AD71-BBD61300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DNS XDP Cache：命中后内核直接回包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CD73C-491B-4682-A6B0-952D778E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0A1F7-65F8-4798-932E-A95EEAC9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35456-FFC3-4C6F-9AA5-79D97CDB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560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范围：IPv4 UDP、单问题、A/IN、未压缩 QNAME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5FF70-7EE0-46B2-916F-1A908F0B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1165A-9F35-47EC-9152-81E4AD15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560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缓存 key：QNAME + QTYPE + QCLASS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A6A3C-5251-4A20-A210-3799FA62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6DF95-7C61-49EA-9D5D-CBB550B3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560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缓存 value：IPv4 A 记录 + TTL + 过期时间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693D0-052F-4870-B857-C11BD633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BB407-DDC3-45E6-82C1-B69B2377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560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命中路径：XDP 构造 DNS 响应并返回 XDP_TX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D0926-C34B-4353-A632-CC959BD6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E5ADE-6BF8-4F9A-B6A1-E18C573A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560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未命中和不支持请求：XDP_PASS 放行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6545B-DA95-4F33-8234-5288005B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28800"/>
            <a:ext cx="3429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023AFD-F74A-440D-A232-B7938FE6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002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</a:defRPr>
            </a:pPr>
            <a:r>
              <a:rPr sz="1275" b="1">
                <a:solidFill>
                  <a:srgbClr val="475569"/>
                </a:solidFill>
              </a:rPr>
              <a:t>userspace DNS stub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A4621-BE95-4EF8-B86D-CDBA22FB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38375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75569"/>
                </a:solidFill>
              </a:defRPr>
            </a:pPr>
            <a:r>
              <a:rPr sz="2550" b="1">
                <a:solidFill>
                  <a:srgbClr val="475569"/>
                </a:solidFill>
              </a:rPr>
              <a:t>74,702 QPS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A39C78-9CA8-4C47-AAE2-767629A5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67000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p99 793.97 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9A4A55-D98B-4044-82AF-29EC6F96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05150"/>
            <a:ext cx="3429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57C3FA-5A44-40D3-B92A-05AACD78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766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</a:defRPr>
            </a:pPr>
            <a:r>
              <a:rPr sz="1275" b="1">
                <a:solidFill>
                  <a:srgbClr val="475569"/>
                </a:solidFill>
              </a:rPr>
              <a:t>XDP cache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F589DA-581D-4B3A-9BCA-D4B837FF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14725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A5E9"/>
                </a:solidFill>
              </a:defRPr>
            </a:pPr>
            <a:r>
              <a:rPr sz="2550" b="1">
                <a:solidFill>
                  <a:srgbClr val="0EA5E9"/>
                </a:solidFill>
              </a:rPr>
              <a:t>533,692 QPS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6C2CF7-1559-4370-9D42-7FB44ECF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43350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p99 4.35 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B55DED-CF5C-4146-9503-5457533F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81500"/>
            <a:ext cx="3429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7BAD0B-B746-4B89-A6C9-B0134D34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529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</a:defRPr>
            </a:pPr>
            <a:r>
              <a:rPr sz="1275" b="1">
                <a:solidFill>
                  <a:srgbClr val="475569"/>
                </a:solidFill>
              </a:rPr>
              <a:t>加速比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356F7B-5670-4D4A-99C9-E85AF7EE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91075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B981"/>
                </a:solidFill>
              </a:defRPr>
            </a:pPr>
            <a:r>
              <a:rPr sz="2550" b="1">
                <a:solidFill>
                  <a:srgbClr val="10B981"/>
                </a:solidFill>
              </a:rPr>
              <a:t>7.14x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76ECF6-EF69-4C84-97C6-896EA46B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219700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p99 提升 182.52x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E277D6-A78E-4256-B2A8-BD261DCB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OS 功能挑战赛 · eBPF 网络服务加速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DA63E1-6885-4900-9160-DB64062A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149170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9FDA6E-CA7C-40FA-9B95-C5317CC4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E9"/>
                </a:solidFill>
              </a:defRPr>
            </a:pPr>
            <a:r>
              <a:rPr sz="1200" b="1">
                <a:solidFill>
                  <a:srgbClr val="0EA5E9"/>
                </a:solidFill>
              </a:rPr>
              <a:t>基于 eBPF 的网络服务加速与双端缓存系统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A3167-40B9-4F96-A077-C457F4B1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gRPC Fast Cache：策略控制的第二服务加速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4A7B4-0175-44E5-8FD2-FE651868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12B60-54B3-47CE-8866-4C6FF6E8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3E733-CFC6-4BD5-ACD6-A9446A7C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550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tc monitor 监控 TCP/IPv4 50051 的请求、响应与 transport RTT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C40F2-DCBD-4E56-B520-38BCB7A7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8DF1E-7A24-46AD-B565-2AC762C9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550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fast-cache 解析 h2c :path，计算 method_hash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4AC2C-6384-4343-924A-C40DEB60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8A1AD-20E7-499B-97BF-7AB1F78E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550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请求 DATA payload 计算 payload_hash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153EC-8B18-4BCA-9796-4FF333D7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7923D-BFE5-4050-8606-1E4CC77E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550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cache key = method_hash + payload_hash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43171-D8D5-418B-A920-1A148CC0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E361BE-5914-4BAE-A71E-85FC5326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550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策略未命中、响应未命中、解析失败均回退后端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70466-385C-4ACD-B101-B874B63A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90700"/>
            <a:ext cx="3619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175E64-D20B-43C5-AF50-91F1971A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6215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</a:defRPr>
            </a:pPr>
            <a:r>
              <a:rPr sz="1275" b="1">
                <a:solidFill>
                  <a:srgbClr val="475569"/>
                </a:solidFill>
              </a:rPr>
              <a:t>direct 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83E47-B257-4EBF-BC0F-3CA38A14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00275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75569"/>
                </a:solidFill>
              </a:defRPr>
            </a:pPr>
            <a:r>
              <a:rPr sz="2550" b="1">
                <a:solidFill>
                  <a:srgbClr val="475569"/>
                </a:solidFill>
              </a:rPr>
              <a:t>808 QPS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919315-A6D6-46A7-9056-1352ADBC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2890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p99 4067.90 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5FA631-90A7-433B-AF57-47E760EE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67050"/>
            <a:ext cx="3619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DB3F7C-F91E-4BF4-977B-C86DA171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3850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</a:defRPr>
            </a:pPr>
            <a:r>
              <a:rPr sz="1275" b="1">
                <a:solidFill>
                  <a:srgbClr val="475569"/>
                </a:solidFill>
              </a:rPr>
              <a:t>SERVING cache hit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ED32F2-4956-4AAC-BDEE-7758AC03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76625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7316"/>
                </a:solidFill>
              </a:defRPr>
            </a:pPr>
            <a:r>
              <a:rPr sz="2550" b="1">
                <a:solidFill>
                  <a:srgbClr val="F97316"/>
                </a:solidFill>
              </a:rPr>
              <a:t>2,985 QPS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8679E1-01FC-4C06-9C52-103940EE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p99 1223.09 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B74A53-75EA-48FD-BBAB-48313B9E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3619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7F6FE4-F8AE-49D5-A9E5-C242A2C7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1485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</a:defRPr>
            </a:pPr>
            <a:r>
              <a:rPr sz="1275" b="1">
                <a:solidFill>
                  <a:srgbClr val="475569"/>
                </a:solidFill>
              </a:rPr>
              <a:t>加速比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220742-232C-40AD-8837-E33652F6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52975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B981"/>
                </a:solidFill>
              </a:defRPr>
            </a:pPr>
            <a:r>
              <a:rPr sz="2550" b="1">
                <a:solidFill>
                  <a:srgbClr val="10B981"/>
                </a:solidFill>
              </a:rPr>
              <a:t>3.69x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3625A7-11F8-41FF-89FF-38C82DB3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8160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p99 提升 3.33x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FB037F-1D8A-438C-8EEE-EB7B995E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OS 功能挑战赛 · eBPF 网络服务加速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681F38-7507-4166-A847-C9501F34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738920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FD451B-3317-472E-9FD5-683B821A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E9"/>
                </a:solidFill>
              </a:defRPr>
            </a:pPr>
            <a:r>
              <a:rPr sz="1200" b="1">
                <a:solidFill>
                  <a:srgbClr val="0EA5E9"/>
                </a:solidFill>
              </a:rPr>
              <a:t>基于 eBPF 的网络服务加速与双端缓存系统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18171-213D-4FD1-BA48-175DDB40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统一运行时策略：一个文件控制 DNS 与 gRPC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B11E7-CED1-4953-9D99-A9D734A9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79BD6-A911-460A-B89A-2B521AEA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F3DC0-5CFB-4F0F-AA66-9A85256A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4381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dns example.test 10.0.0.123 60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dns api.test 10.0.0.124 30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grpc /grpc.health.v1.Health/Check 60 idempotent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grpc-cache /grpc.health.v1.Health/Check demo SERVING 60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</a:defRPr>
            </a:pPr>
            <a:r>
              <a:rPr sz="1350" b="0">
                <a:solidFill>
                  <a:srgbClr val="E2E8F0"/>
                </a:solidFill>
              </a:rPr>
              <a:t>grpc-cache /grpc.health.v1.Health/Check down NOT_SERVING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8A51B-0087-49E1-A785-AD947FE2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F8CC7-734C-40FF-AB5B-89F2A445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0975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cachectl 校验统一策略文件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2A658-8DBA-4FB9-8E69-A88463DD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A5AF6-9FD8-4218-8C20-F144C556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6695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DNS 条目写入 pinned dns_cache 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C68295-8844-486C-B440-95F66517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46B28-1CE5-4A90-9F52-7BC2E9F7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2415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gRPC 方法白名单写入 grpc_policy_map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71F01-2E4A-4590-8452-2E1FA340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57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183CC-D261-4B8F-B774-1912A7A0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8135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gRPC 响应缓存由 grpc-cache 记录加载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95A77E-8D5D-47F8-AAD0-49264487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C40DB-C168-4DD7-B52B-9C29896D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3855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支持运行时更新，不需要重新编译 eBPF 程序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55F24-BC26-405F-958E-BEE4BB25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OS 功能挑战赛 · eBPF 网络服务加速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699DA7-6190-45D2-86AA-795CC071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190497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A97931-2647-4BD1-950E-4A4E297D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E9"/>
                </a:solidFill>
              </a:defRPr>
            </a:pPr>
            <a:r>
              <a:rPr sz="1200" b="1">
                <a:solidFill>
                  <a:srgbClr val="0EA5E9"/>
                </a:solidFill>
              </a:rPr>
              <a:t>基于 eBPF 的网络服务加速与双端缓存系统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20307-6EB6-4AC9-93CD-3EA9576B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OpenStack 与 Kubernetes：真实路径挂载证据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6739C-F456-4FF3-B859-79E39C22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28700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29000"/>
                <a:gridCol w="3429000"/>
                <a:gridCol w="3429000"/>
              </a:tblGrid>
              <a:tr h="59531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环境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已验证路径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可引用加速比 / 指标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t>OpenStack / OVS / KVM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br-int attach smoke；DevStack/OVS workload evidence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DNS 7.14x / gRPC 3.69x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t>Kubernetes / CNI / Pod veth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Pod-to-Service workload evidence；monitor 计数非零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DNS 7.14x / gRPC 3.69x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t>虚拟化 bridge benchmark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netns + bridge + veth；无 ping 丢包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qps 2129.59；p99 3314.93 us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3DD37-CF46-412A-9E1E-B1135FD7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边界：OpenStack/K8s 证明可挂载和业务路径可见；加速比来自同 VM 快路径 benchmark，不夸大为生产端到端压测。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9D70D-CCE0-42CE-8A22-E32ABF79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OS 功能挑战赛 · eBPF 网络服务加速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D4645-0FFF-43FE-826F-8CD15FDC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574720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A964A7-D76E-4565-8F36-3C334564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E9"/>
                </a:solidFill>
              </a:defRPr>
            </a:pPr>
            <a:r>
              <a:rPr sz="1200" b="1">
                <a:solidFill>
                  <a:srgbClr val="0EA5E9"/>
                </a:solidFill>
              </a:rPr>
              <a:t>基于 eBPF 的网络服务加速与双端缓存系统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493CC-9FB3-4B94-9030-7D2E7050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测试矩阵：从功能到性能再到云环境证据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CA0C1-EB04-42C5-B37E-5CFEDF15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1676400"/>
          <a:ext xmlns:a="http://schemas.openxmlformats.org/drawingml/2006/main" cx="102870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29000"/>
                <a:gridCol w="3429000"/>
                <a:gridCol w="3429000"/>
              </a:tblGrid>
              <a:tr h="539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测试域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覆盖内容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t>构建与卫生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build 产物齐全；无真实密码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已完成</a:t>
                      </a:r>
                    </a:p>
                  </a:txBody>
                  <a:tcPr marL="91440" marR="91440" marT="45720" marB="45720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t>DNS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tc 监控、单/多条缓存、TTL、miss pass-through、XDP benchmark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已完成</a:t>
                      </a:r>
                    </a:p>
                  </a:txBody>
                  <a:tcPr marL="91440" marR="91440" marT="45720" marB="45720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t>gRPC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tc RTT、policy map、SERVING/NOT_SERVING 命中、fallback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已完成</a:t>
                      </a:r>
                    </a:p>
                  </a:txBody>
                  <a:tcPr marL="91440" marR="91440" marT="45720" marB="45720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t>虚拟化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bridge path benchmark、OpenStack probe、br-int attach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已完成</a:t>
                      </a:r>
                    </a:p>
                  </a:txBody>
                  <a:tcPr marL="91440" marR="91440" marT="45720" marB="45720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t>Kubernetes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path probe、Pod-to-Service workload evidence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已完成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7828C-DBFB-491E-B0BC-61687CAD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测试文档：docs/test-matrix.md；演示流程：docs/demo-runbook.md。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62966-79F4-4A78-B5BF-6C77838B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OS 功能挑战赛 · eBPF 网络服务加速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16516-94C0-4553-9781-0994DFBC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150256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DA81E4-3D2B-45F1-99B9-881CA091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E9"/>
                </a:solidFill>
              </a:defRPr>
            </a:pPr>
            <a:r>
              <a:rPr sz="1200" b="1">
                <a:solidFill>
                  <a:srgbClr val="0EA5E9"/>
                </a:solidFill>
              </a:rPr>
              <a:t>基于 eBPF 的网络服务加速与双端缓存系统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E2E3A-5537-4502-BFDE-9A5E12DB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相关工作对比：不是第一个 DNS XDP Cache，但更完整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18C13-FBD0-49D1-9E4E-67F59083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762000" y="1905000"/>
          <a:ext xmlns:a="http://schemas.openxmlformats.org/drawingml/2006/main" cx="4953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a5059429c6494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E99FB-D7A0-4D10-B8C9-87741804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81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5934D-6505-42AE-A037-699F4DD4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05000"/>
            <a:ext cx="426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Xpress DNS 是最接近的可运行 DNS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AA3C6-44FE-4C48-A91A-3C02CC1F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16A91-69A6-4992-94F8-16D7A4F7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00300"/>
            <a:ext cx="426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同 VM 对比：本项目 QPS 约 1.07x，p99 约 1.74x 更优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B75FD-1E5F-4D6E-A65D-3E3BBA9C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B1354-B918-4185-BBDC-FB275DF3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95600"/>
            <a:ext cx="426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本项目额外覆盖 gRPC、统一策略、OpenStack/K8s 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925AD-F4F4-4838-BC35-958070EE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645CB-AF1D-491F-A0CE-F78FEE15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90900"/>
            <a:ext cx="426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答辩定位：双服务 eBPF 监控与加速原型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A21A7-E34F-4467-9DB7-006B3E99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OS 功能挑战赛 · eBPF 网络服务加速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20A5EF-F0AC-4944-B4E6-F6BA9BFE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237615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E3AEEA-297D-4941-B1B3-DF35AF61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E9"/>
                </a:solidFill>
              </a:defRPr>
            </a:pPr>
            <a:r>
              <a:rPr sz="1200" b="1">
                <a:solidFill>
                  <a:srgbClr val="0EA5E9"/>
                </a:solidFill>
              </a:rPr>
              <a:t>基于 eBPF 的网络服务加速与双端缓存系统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96295-EEA6-41CE-9D70-ED092C72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当前边界与后续路线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655A5-4D91-41EC-BED6-9B132574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31D88-2F67-4B42-963C-DB3185DD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B7105-BF44-49E4-AADF-8DE4C6C0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512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DNS：仅 IPv4 UDP、单问题、A/IN、未压缩 QNAME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0C1CF-9654-4CC6-B75E-FFFD8E15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8F033-0E6A-4EAE-91BD-9C02C6E0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512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gRPC：仅 h2c unary demo，不覆盖 TLS/streaming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9C61E-3EC1-4EF2-B0B4-6DBE8192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7A825-FFF0-496E-8B8F-90DF2CC7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512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VMware：当前使用 generic XDP，native XDP 需换支持驱动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1500C-D5FB-4FD6-BA53-D612E214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9E4B9-440B-4A19-91CD-0DC2F5AC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512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OpenStack/K8s：已证明挂载和可见性，生产端到端仍需专用 workload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43B3B-1893-4C9F-8EBF-CB54DF8D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90700"/>
            <a:ext cx="3619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A7CA7-2B83-48E2-84F6-5564001A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05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A5E9"/>
                </a:solidFill>
              </a:defRPr>
            </a:pPr>
            <a:r>
              <a:rPr sz="1650" b="1">
                <a:solidFill>
                  <a:srgbClr val="0EA5E9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15DE6-90C6-4033-AC98-95D38CE5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431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gRPC cache entries 下沉到 pinned 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86589-E2D6-4519-9F5F-C8306828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3619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3B34E6-2058-44F3-B0C5-9600629D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860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A5E9"/>
                </a:solidFill>
              </a:defRPr>
            </a:pPr>
            <a:r>
              <a:rPr sz="1650" b="1">
                <a:solidFill>
                  <a:srgbClr val="0EA5E9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855903-DCEE-4EE4-884F-C9EB2DA9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增强 HTTP/2 frame 与 TLS 部署说明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CA7136-ACDF-4AC6-8095-DA517EA4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52800"/>
            <a:ext cx="3619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56F963-7ED8-4577-B2EA-43168606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671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A5E9"/>
                </a:solidFill>
              </a:defRPr>
            </a:pPr>
            <a:r>
              <a:rPr sz="1650" b="1">
                <a:solidFill>
                  <a:srgbClr val="0EA5E9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C21638-5415-4018-8D37-342E46D4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052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native XDP 网卡环境复测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507859-9E4C-48B1-A7CF-02E84506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33850"/>
            <a:ext cx="3619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D7E963-4914-4BC8-9241-D1F91ACB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481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A5E9"/>
                </a:solidFill>
              </a:defRPr>
            </a:pPr>
            <a:r>
              <a:rPr sz="1650" b="1">
                <a:solidFill>
                  <a:srgbClr val="0EA5E9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775639-4CBF-4B12-9F9D-D64A51C2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86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真实 VM-to-VM / Pod-to-Pod 端到端压测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3D1807-4A6D-419F-B179-97E631F5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OS 功能挑战赛 · eBPF 网络服务加速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FC5A0E-BBF2-4F37-A21D-33D8EA5D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858227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7A6DBD-3DA9-496C-AAFC-D90CA4BA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E9"/>
                </a:solidFill>
              </a:defRPr>
            </a:pPr>
            <a:r>
              <a:rPr sz="1200" b="1">
                <a:solidFill>
                  <a:srgbClr val="0EA5E9"/>
                </a:solidFill>
              </a:rPr>
              <a:t>基于 eBPF 的网络服务加速与双端缓存系统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B4905-DFBE-4D12-B307-E21D4978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现场演示顺序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87D3A-1028-4716-B21F-B68037C6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DA370-D1FD-443E-B405-A358B99D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133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8081D-B2E8-4046-9AE7-0983E0A8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907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构建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179E2-A62E-4A98-A77E-732F467B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480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build_linux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BE5DC-7D6D-4E34-A897-93977F79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241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561AD-4EAA-49F3-8737-AA422BC0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90750"/>
            <a:ext cx="133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0236E-BAF8-4CC6-B71C-17DD23F0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907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DNS XDP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D34EA-227E-4F1A-A533-9A906B09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480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dnsperf + p99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F3632-7565-4669-BDCE-235D71F5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241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755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9A3CEC-A0B0-44C3-937E-56A5A7A8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133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BBE52-5B21-4DF4-9EF8-56B9AB91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907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gRPC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CBA5D-B0DD-44D0-B83D-E45E5184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0480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monitor + cache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1F3212-B6D5-4C59-9B57-7F241455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241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755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527943-1573-48AA-BD8B-8A127781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133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2E43F6-751E-4D6A-8BCB-154C7EF2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907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策略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2A77C-A6FA-4FB3-80E6-B5CBCE81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480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cachectl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BCE453-B7E7-4E89-914C-B2AA8C25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241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755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3AA63C-61E6-43B6-8001-E31B80B4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133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FB49B2-9075-4D03-B405-B6121DA7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3907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云环境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B85E69-FC44-4572-8F77-7D946DE3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480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OpenStack/K8s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DB6621-6349-48A0-9AE5-31225D0C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核心展示命令：build、dns_xdp_cache_bench、grpc_tc_monitor_bench、grpc_fast_cache_bench、virt_path_bench、openstack/k8s evidence。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12A914-8B53-4F31-B89E-43FA74EA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OS 功能挑战赛 · eBPF 网络服务加速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AC0F2D-DC6B-4C06-831D-47A6E66A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897843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4AF655-58AE-40FC-B2F2-CDA8C336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E9"/>
                </a:solidFill>
              </a:defRPr>
            </a:pPr>
            <a:r>
              <a:rPr sz="1200" b="1">
                <a:solidFill>
                  <a:srgbClr val="0EA5E9"/>
                </a:solidFill>
              </a:rPr>
              <a:t>基于 eBPF 的网络服务加速与双端缓存系统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89192-A7A7-4086-8C5D-ED0E1A36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结论：可展示、可复现、可继续深化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5B622-3623-4FDC-9FD1-FF14E748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E41F3-FEE1-4E64-A4D7-FC893797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048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101B1-D726-4DF7-ABDE-0BF8D265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</a:defRPr>
            </a:pPr>
            <a:r>
              <a:rPr sz="1275" b="1">
                <a:solidFill>
                  <a:srgbClr val="475569"/>
                </a:solidFill>
              </a:rPr>
              <a:t>服务覆盖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4EB02-559B-449B-A4C7-29BE7C73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1932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A5E9"/>
                </a:solidFill>
              </a:defRPr>
            </a:pPr>
            <a:r>
              <a:rPr sz="2550" b="1">
                <a:solidFill>
                  <a:srgbClr val="0EA5E9"/>
                </a:solidFill>
              </a:rPr>
              <a:t>DNS + gRPC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E4CDE-58EA-4A64-86E7-3F6E2A3C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47950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两种网络服务均有监控与加速路径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FFB0A-93F7-4139-873B-6DBD088E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3048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98DA1-14F4-47D0-A1C9-28C835F3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812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</a:defRPr>
            </a:pPr>
            <a:r>
              <a:rPr sz="1275" b="1">
                <a:solidFill>
                  <a:srgbClr val="475569"/>
                </a:solidFill>
              </a:rPr>
              <a:t>DNS 加速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F5881-EF5A-4F06-A0E1-F0552678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1932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B981"/>
                </a:solidFill>
              </a:defRPr>
            </a:pPr>
            <a:r>
              <a:rPr sz="2550" b="1">
                <a:solidFill>
                  <a:srgbClr val="10B981"/>
                </a:solidFill>
              </a:rPr>
              <a:t>7.14x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BF0A4-2D45-4813-95B7-08B4091A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p99 提升 182.52x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B89E9-E905-4470-8682-477252B3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048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F360A-3E41-481F-8E67-749C4176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812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569"/>
                </a:solidFill>
              </a:defRPr>
            </a:pPr>
            <a:r>
              <a:rPr sz="1275" b="1">
                <a:solidFill>
                  <a:srgbClr val="475569"/>
                </a:solidFill>
              </a:rPr>
              <a:t>gRPC 加速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E5BA1-B1AE-4A11-8FB3-DA8ECAC6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1932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97316"/>
                </a:solidFill>
              </a:defRPr>
            </a:pPr>
            <a:r>
              <a:rPr sz="2550" b="1">
                <a:solidFill>
                  <a:srgbClr val="F97316"/>
                </a:solidFill>
              </a:rPr>
              <a:t>3.69x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324E4-4CB3-4F80-97BC-FFB99145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p99 提升 3.33x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F1A759-C3FF-4FAE-8D2C-B235F2D9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38AE43-15FF-4E3D-AEE2-B4167DAD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912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完成赛题核心任务：eBPF 监控、性能优化、双服务支持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B98BD7-BD39-472D-8FD4-BD9653AF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AFFB63-1B4D-438F-BA88-68BDCD01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912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提供统一缓存策略与完整测试矩阵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E14438-BEC5-475B-86C4-DB665A53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4660CE-6366-46F3-8115-457E7006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52950"/>
            <a:ext cx="912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补充 OpenStack/Kubernetes 开源环境接入证据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D0C90E-4E0F-4CCE-8290-70FDC6D6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FDEDFF-4AA7-4A20-A89C-2F0E90DD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72050"/>
            <a:ext cx="912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后续可向 native XDP、完整 HTTP/2、真实集群端到端实验扩展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BA6F35-FE10-48B9-9843-5D62AF9D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OS 功能挑战赛 · eBPF 网络服务加速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B46530-FDC8-47B2-BA81-355671B8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54913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2026-06-30T13:31:00.1210000Z</dcterms:created>
  <dcterms:modified xsi:type="dcterms:W3CDTF">2026-06-30T13:31:00.1220000Z</dcterms:modified>
</coreProperties>
</file>