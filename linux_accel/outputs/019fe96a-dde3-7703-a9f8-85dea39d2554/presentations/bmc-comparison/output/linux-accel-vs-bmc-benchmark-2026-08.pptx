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e4af70a1a1427f" /><Relationship Type="http://schemas.openxmlformats.org/officeDocument/2006/relationships/extended-properties" Target="/docProps/app.xml" Id="R5605a4c377b34a33" /><Relationship Type="http://schemas.openxmlformats.org/officeDocument/2006/relationships/officeDocument" Target="/ppt/presentation.xml" Id="R68ece96a795a47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be93bca0374fe4"/>
  </p:sldMasterIdLst>
  <p:notesMasterIdLst>
    <p:notesMasterId xmlns:r="http://schemas.openxmlformats.org/officeDocument/2006/relationships" r:id="R26c1f68cb716412d"/>
  </p:notesMasterIdLst>
  <p:sldIdLst>
    <p:sldId xmlns:r="http://schemas.openxmlformats.org/officeDocument/2006/relationships" id="256" r:id="R362b4578c8fa4dee"/>
    <p:sldId xmlns:r="http://schemas.openxmlformats.org/officeDocument/2006/relationships" id="257" r:id="R8a492c3707d04c86"/>
    <p:sldId xmlns:r="http://schemas.openxmlformats.org/officeDocument/2006/relationships" id="258" r:id="Rff56d5c3d37442cb"/>
    <p:sldId xmlns:r="http://schemas.openxmlformats.org/officeDocument/2006/relationships" id="259" r:id="R254bf5c1a61044f5"/>
    <p:sldId xmlns:r="http://schemas.openxmlformats.org/officeDocument/2006/relationships" id="260" r:id="R923c0479d67f4c8c"/>
    <p:sldId xmlns:r="http://schemas.openxmlformats.org/officeDocument/2006/relationships" id="261" r:id="Rc14d37e6680f4a67"/>
    <p:sldId xmlns:r="http://schemas.openxmlformats.org/officeDocument/2006/relationships" id="262" r:id="R7190f7b9b59546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380779a8584f3c" /><Relationship Type="http://schemas.openxmlformats.org/officeDocument/2006/relationships/slideMaster" Target="/ppt/slideMasters/slideMaster1.xml" Id="R49be93bca0374fe4" /><Relationship Type="http://schemas.openxmlformats.org/officeDocument/2006/relationships/notesMaster" Target="/ppt/notesMasters/notesMaster1.xml" Id="R26c1f68cb716412d" /><Relationship Type="http://schemas.openxmlformats.org/officeDocument/2006/relationships/presProps" Target="/ppt/presProps.xml" Id="R720a92e630e145d8" /><Relationship Type="http://schemas.openxmlformats.org/officeDocument/2006/relationships/tableStyles" Target="/ppt/tableStyles.xml" Id="R8652bbde0eee412a" /><Relationship Type="http://schemas.openxmlformats.org/officeDocument/2006/relationships/slide" Target="/ppt/slides/slide1.xml" Id="R362b4578c8fa4dee" /><Relationship Type="http://schemas.openxmlformats.org/officeDocument/2006/relationships/slide" Target="/ppt/slides/slide2.xml" Id="R8a492c3707d04c86" /><Relationship Type="http://schemas.openxmlformats.org/officeDocument/2006/relationships/slide" Target="/ppt/slides/slide3.xml" Id="Rff56d5c3d37442cb" /><Relationship Type="http://schemas.openxmlformats.org/officeDocument/2006/relationships/slide" Target="/ppt/slides/slide4.xml" Id="R254bf5c1a61044f5" /><Relationship Type="http://schemas.openxmlformats.org/officeDocument/2006/relationships/slide" Target="/ppt/slides/slide5.xml" Id="R923c0479d67f4c8c" /><Relationship Type="http://schemas.openxmlformats.org/officeDocument/2006/relationships/slide" Target="/ppt/slides/slide6.xml" Id="Rc14d37e6680f4a67" /><Relationship Type="http://schemas.openxmlformats.org/officeDocument/2006/relationships/slide" Target="/ppt/slides/slide7.xml" Id="R7190f7b9b59546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43051d8f0445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4474515ee84407" /><Relationship Type="http://schemas.openxmlformats.org/officeDocument/2006/relationships/notesMaster" Target="/ppt/notesMasters/notesMaster1.xml" Id="R64abd912f89c42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10109b0ce54105" /><Relationship Type="http://schemas.openxmlformats.org/officeDocument/2006/relationships/notesMaster" Target="/ppt/notesMasters/notesMaster1.xml" Id="R1b3ff6a8bf054f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72abcd76e4828" /><Relationship Type="http://schemas.openxmlformats.org/officeDocument/2006/relationships/notesMaster" Target="/ppt/notesMasters/notesMaster1.xml" Id="Rfb1980b7b77d41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04db7607514c5c" /><Relationship Type="http://schemas.openxmlformats.org/officeDocument/2006/relationships/notesMaster" Target="/ppt/notesMasters/notesMaster1.xml" Id="R722f51ba036d4b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9e594484174d15" /><Relationship Type="http://schemas.openxmlformats.org/officeDocument/2006/relationships/notesMaster" Target="/ppt/notesMasters/notesMaster1.xml" Id="R443f7d4f089a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5516a077bd4cf5" /><Relationship Type="http://schemas.openxmlformats.org/officeDocument/2006/relationships/notesMaster" Target="/ppt/notesMasters/notesMaster1.xml" Id="R4046fc2f581848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cad6ccd6224c44" /><Relationship Type="http://schemas.openxmlformats.org/officeDocument/2006/relationships/notesMaster" Target="/ppt/notesMasters/notesMaster1.xml" Id="R87542f0ca7be42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9bc8eaeeb4f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9ad5f10081467c" /><Relationship Type="http://schemas.openxmlformats.org/officeDocument/2006/relationships/slideLayout" Target="/ppt/slideLayouts/slideLayout1.xml" Id="R1b07a36379c8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7a36379c8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4020d44314c37" /><Relationship Type="http://schemas.openxmlformats.org/officeDocument/2006/relationships/image" Target="/ppt/media/image.png" Id="R60b5a82937874ad4" /><Relationship Type="http://schemas.openxmlformats.org/officeDocument/2006/relationships/notesSlide" Target="/ppt/notesSlides/notesSlide1.xml" Id="R83a8fcfacbd34e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92488fa714569" /><Relationship Type="http://schemas.openxmlformats.org/officeDocument/2006/relationships/notesSlide" Target="/ppt/notesSlides/notesSlide2.xml" Id="R55b192d667b948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1ced2dfee4a39" /><Relationship Type="http://schemas.openxmlformats.org/officeDocument/2006/relationships/notesSlide" Target="/ppt/notesSlides/notesSlide3.xml" Id="R744711c790ae4d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a03c609044a36" /><Relationship Type="http://schemas.openxmlformats.org/officeDocument/2006/relationships/notesSlide" Target="/ppt/notesSlides/notesSlide4.xml" Id="R21c3112bd37c43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113d99a364693" /><Relationship Type="http://schemas.openxmlformats.org/officeDocument/2006/relationships/notesSlide" Target="/ppt/notesSlides/notesSlide5.xml" Id="Rb5d7110b1a384f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701061f304533" /><Relationship Type="http://schemas.openxmlformats.org/officeDocument/2006/relationships/notesSlide" Target="/ppt/notesSlides/notesSlide6.xml" Id="R34dad1b7833f46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e54ba3cb8465b" /><Relationship Type="http://schemas.openxmlformats.org/officeDocument/2006/relationships/notesSlide" Target="/ppt/notesSlides/notesSlide7.xml" Id="R9f0d1847c66a4a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1-background">
            <a:extLst xmlns:a="http://schemas.openxmlformats.org/drawingml/2006/main">
              <a:ext uri="{FF2B5EF4-FFF2-40B4-BE49-F238E27FC236}">
                <a16:creationId xmlns:a16="http://schemas.microsoft.com/office/drawing/2014/main" id="{311F937F-66D5-4FB5-A728-4F9D75DD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2" name="s1-accent">
            <a:extLst xmlns:a="http://schemas.openxmlformats.org/drawingml/2006/main">
              <a:ext uri="{FF2B5EF4-FFF2-40B4-BE49-F238E27FC236}">
                <a16:creationId xmlns:a16="http://schemas.microsoft.com/office/drawing/2014/main" id="{9D670578-BCBE-413C-BB67-7E0A007B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" name="s1-left-panel">
            <a:extLst xmlns:a="http://schemas.openxmlformats.org/drawingml/2006/main">
              <a:ext uri="{FF2B5EF4-FFF2-40B4-BE49-F238E27FC236}">
                <a16:creationId xmlns:a16="http://schemas.microsoft.com/office/drawing/2014/main" id="{7063D4C3-55B2-4033-B5AE-563EFA77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71625"/>
            </a:solidFill>
            <a:prstDash val="solid"/>
          </a:ln>
        </p:spPr>
      </p:sp>
      <p:sp>
        <p:nvSpPr>
          <p:cNvPr id="4" name="s1-kicker">
            <a:extLst xmlns:a="http://schemas.openxmlformats.org/drawingml/2006/main">
              <a:ext uri="{FF2B5EF4-FFF2-40B4-BE49-F238E27FC236}">
                <a16:creationId xmlns:a16="http://schemas.microsoft.com/office/drawing/2014/main" id="{08080A4F-1775-402B-ACF1-30752F7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DIRECT COMPETITOR · NSDI'21 BMC</a:t>
            </a:r>
          </a:p>
        </p:txBody>
      </p:sp>
      <p:sp>
        <p:nvSpPr>
          <p:cNvPr id="5" name="s1-title">
            <a:extLst xmlns:a="http://schemas.openxmlformats.org/drawingml/2006/main">
              <a:ext uri="{FF2B5EF4-FFF2-40B4-BE49-F238E27FC236}">
                <a16:creationId xmlns:a16="http://schemas.microsoft.com/office/drawing/2014/main" id="{058492D6-61CE-4412-A1D3-9BA4C502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390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OpenStack 下不是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+0.16%，最终是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+32.07%</a:t>
            </a:r>
          </a:p>
        </p:txBody>
      </p:sp>
      <p:sp>
        <p:nvSpPr>
          <p:cNvPr id="6" name="s1-subtitle">
            <a:extLst xmlns:a="http://schemas.openxmlformats.org/drawingml/2006/main">
              <a:ext uri="{FF2B5EF4-FFF2-40B4-BE49-F238E27FC236}">
                <a16:creationId xmlns:a16="http://schemas.microsoft.com/office/drawing/2014/main" id="{6397F03C-BFE9-4797-AF61-9503E70F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linux_accel vs. Orange BMC</a:t>
            </a:r>
          </a:p>
          <a:p xmlns:a="http://schemas.openxmlformats.org/drawingml/2006/main">
            <a:pPr algn="l">
              <a:defRPr sz="12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node1 VM → TAP → OVS/OVN/Geneve → node2 VM · 6-run median</a:t>
            </a:r>
          </a:p>
        </p:txBody>
      </p:sp>
      <p:sp>
        <p:nvSpPr>
          <p:cNvPr id="7" name="s1-netns-metric-value">
            <a:extLst xmlns:a="http://schemas.openxmlformats.org/drawingml/2006/main">
              <a:ext uri="{FF2B5EF4-FFF2-40B4-BE49-F238E27FC236}">
                <a16:creationId xmlns:a16="http://schemas.microsoft.com/office/drawing/2014/main" id="{12EC7A7C-554B-4230-9956-DC428EAC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DE2BA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4DE2BA"/>
                </a:solidFill>
                <a:latin typeface="Hiragino Sans"/>
                <a:ea typeface="Hiragino Sans"/>
                <a:cs typeface="Hiragino Sans"/>
              </a:rPr>
              <a:t>+23.39%</a:t>
            </a:r>
          </a:p>
        </p:txBody>
      </p:sp>
      <p:sp>
        <p:nvSpPr>
          <p:cNvPr id="8" name="s1-netns-metric-label">
            <a:extLst xmlns:a="http://schemas.openxmlformats.org/drawingml/2006/main">
              <a:ext uri="{FF2B5EF4-FFF2-40B4-BE49-F238E27FC236}">
                <a16:creationId xmlns:a16="http://schemas.microsoft.com/office/drawing/2014/main" id="{90C49FAE-641B-4102-8A3C-28FD632E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netns · BMC paper-scaled mixed QPS</a:t>
            </a:r>
          </a:p>
        </p:txBody>
      </p:sp>
      <p:sp>
        <p:nvSpPr>
          <p:cNvPr id="9" name="s1-openstack-metric-value">
            <a:extLst xmlns:a="http://schemas.openxmlformats.org/drawingml/2006/main">
              <a:ext uri="{FF2B5EF4-FFF2-40B4-BE49-F238E27FC236}">
                <a16:creationId xmlns:a16="http://schemas.microsoft.com/office/drawing/2014/main" id="{6C957007-306E-4DBB-AE86-BC9776C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90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+32.07%</a:t>
            </a:r>
          </a:p>
        </p:txBody>
      </p:sp>
      <p:sp>
        <p:nvSpPr>
          <p:cNvPr id="10" name="s1-openstack-metric-label">
            <a:extLst xmlns:a="http://schemas.openxmlformats.org/drawingml/2006/main">
              <a:ext uri="{FF2B5EF4-FFF2-40B4-BE49-F238E27FC236}">
                <a16:creationId xmlns:a16="http://schemas.microsoft.com/office/drawing/2014/main" id="{465C4CD3-528A-4164-84FC-C5594B8F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43400"/>
            <a:ext cx="1885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OpenStack TAP · cross-compute mixed QPS</a:t>
            </a:r>
          </a:p>
        </p:txBody>
      </p:sp>
      <p:sp>
        <p:nvSpPr>
          <p:cNvPr id="11" name="s1-request-pill">
            <a:extLst xmlns:a="http://schemas.openxmlformats.org/drawingml/2006/main">
              <a:ext uri="{FF2B5EF4-FFF2-40B4-BE49-F238E27FC236}">
                <a16:creationId xmlns:a16="http://schemas.microsoft.com/office/drawing/2014/main" id="{34BDEEDC-9BEF-4138-AB70-68DFA581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359"/>
          </a:solidFill>
          <a:ln xmlns:a="http://schemas.openxmlformats.org/drawingml/2006/main" w="0">
            <a:solidFill>
              <a:srgbClr val="2A4359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207.3M timed requests · 0 failure</a:t>
            </a:r>
          </a:p>
        </p:txBody>
      </p:sp>
      <p:sp>
        <p:nvSpPr>
          <p:cNvPr id="12" name="s1-runtime-note">
            <a:extLst xmlns:a="http://schemas.openxmlformats.org/drawingml/2006/main">
              <a:ext uri="{FF2B5EF4-FFF2-40B4-BE49-F238E27FC236}">
                <a16:creationId xmlns:a16="http://schemas.microsoft.com/office/drawing/2014/main" id="{8F59C9C6-B339-4B86-AEF0-1C0E148B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8AC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7E98AC"/>
                </a:solidFill>
                <a:latin typeface="Menlo"/>
                <a:ea typeface="Menlo"/>
                <a:cs typeface="Menlo"/>
              </a:rPr>
              <a:t>BMC@2997145508e0 · Linux 7.0 · Kubernetes OFF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5a82937874ad4"/>
          <a:stretch xmlns:a="http://schemas.openxmlformats.org/drawingml/2006/main"/>
        </p:blipFill>
        <p:spPr>
          <a:xfrm xmlns:a="http://schemas.openxmlformats.org/drawingml/2006/main">
            <a:off x="5219700" y="943191"/>
            <a:ext cx="6515100" cy="3666692"/>
          </a:xfrm>
          <a:prstGeom xmlns:a="http://schemas.openxmlformats.org/drawingml/2006/main" prst="rect">
            <a:avLst/>
          </a:prstGeom>
        </p:spPr>
      </p:pic>
      <p:sp>
        <p:nvSpPr>
          <p:cNvPr id="14" name="s1-bottom-claim">
            <a:extLst xmlns:a="http://schemas.openxmlformats.org/drawingml/2006/main">
              <a:ext uri="{FF2B5EF4-FFF2-40B4-BE49-F238E27FC236}">
                <a16:creationId xmlns:a16="http://schemas.microsoft.com/office/drawing/2014/main" id="{43C6EDFD-6B7B-4C0D-AF16-B1CFC23C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真实跨计算节点也保持优势</a:t>
            </a:r>
          </a:p>
        </p:txBody>
      </p:sp>
      <p:sp>
        <p:nvSpPr>
          <p:cNvPr id="15" name="s1-bottom-proof">
            <a:extLst xmlns:a="http://schemas.openxmlformats.org/drawingml/2006/main">
              <a:ext uri="{FF2B5EF4-FFF2-40B4-BE49-F238E27FC236}">
                <a16:creationId xmlns:a16="http://schemas.microsoft.com/office/drawing/2014/main" id="{190ED62E-0582-49D4-8645-5A08B456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435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混合热点下多保住 12–14 pp 有效卸载率；p50/p95/p99 同时更低。</a:t>
            </a:r>
          </a:p>
        </p:txBody>
      </p:sp>
      <p:sp>
        <p:nvSpPr>
          <p:cNvPr id="16" name="s1-page">
            <a:extLst xmlns:a="http://schemas.openxmlformats.org/drawingml/2006/main">
              <a:ext uri="{FF2B5EF4-FFF2-40B4-BE49-F238E27FC236}">
                <a16:creationId xmlns:a16="http://schemas.microsoft.com/office/drawing/2014/main" id="{3A14C973-9AB5-4938-9B2D-A96099F3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21287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2-background">
            <a:extLst xmlns:a="http://schemas.openxmlformats.org/drawingml/2006/main">
              <a:ext uri="{FF2B5EF4-FFF2-40B4-BE49-F238E27FC236}">
                <a16:creationId xmlns:a16="http://schemas.microsoft.com/office/drawing/2014/main" id="{01157A9A-B19F-46DB-93E5-9E2F1B0C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2" name="s2-accent">
            <a:extLst xmlns:a="http://schemas.openxmlformats.org/drawingml/2006/main">
              <a:ext uri="{FF2B5EF4-FFF2-40B4-BE49-F238E27FC236}">
                <a16:creationId xmlns:a16="http://schemas.microsoft.com/office/drawing/2014/main" id="{CA984BAE-EC22-44DE-BAC4-A6D51BDC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" name="s2-kicker">
            <a:extLst xmlns:a="http://schemas.openxmlformats.org/drawingml/2006/main">
              <a:ext uri="{FF2B5EF4-FFF2-40B4-BE49-F238E27FC236}">
                <a16:creationId xmlns:a16="http://schemas.microsoft.com/office/drawing/2014/main" id="{B3087EE0-69D5-45E3-B11A-F384EB8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AUDIT CORRECTION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875783BD-CE95-4741-B5E1-0DB9899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旧 pilot 比较了不同容量，+0.16% 必须作废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7D34EE46-E0BA-47BD-8387-14DC24AB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最终主结论来自对称 ABI/profile，并在真实跨计算节点 TAP 路径复测。</a:t>
            </a:r>
          </a:p>
        </p:txBody>
      </p:sp>
      <p:sp>
        <p:nvSpPr>
          <p:cNvPr id="6" name="s2-page">
            <a:extLst xmlns:a="http://schemas.openxmlformats.org/drawingml/2006/main">
              <a:ext uri="{FF2B5EF4-FFF2-40B4-BE49-F238E27FC236}">
                <a16:creationId xmlns:a16="http://schemas.microsoft.com/office/drawing/2014/main" id="{1A0B284E-4C73-4632-AAFD-B25E66A1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7" name="s2-old-panel">
            <a:extLst xmlns:a="http://schemas.openxmlformats.org/drawingml/2006/main">
              <a:ext uri="{FF2B5EF4-FFF2-40B4-BE49-F238E27FC236}">
                <a16:creationId xmlns:a16="http://schemas.microsoft.com/office/drawing/2014/main" id="{230BB81A-A05E-4711-9707-7DC68808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0673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9525">
            <a:solidFill>
              <a:srgbClr val="FF7262"/>
            </a:solidFill>
            <a:prstDash val="solid"/>
          </a:ln>
        </p:spPr>
      </p:sp>
      <p:sp>
        <p:nvSpPr>
          <p:cNvPr id="8" name="s2-old-tag">
            <a:extLst xmlns:a="http://schemas.openxmlformats.org/drawingml/2006/main">
              <a:ext uri="{FF2B5EF4-FFF2-40B4-BE49-F238E27FC236}">
                <a16:creationId xmlns:a16="http://schemas.microsoft.com/office/drawing/2014/main" id="{246DD73A-8080-46E7-B2F9-5FD65764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62"/>
          </a:solidFill>
          <a:ln xmlns:a="http://schemas.openxmlformats.org/drawingml/2006/main" w="0">
            <a:solidFill>
              <a:srgbClr val="FF7262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INVALIDATED PILOT</a:t>
            </a:r>
          </a:p>
        </p:txBody>
      </p:sp>
      <p:sp>
        <p:nvSpPr>
          <p:cNvPr id="9" name="s2-old-heading">
            <a:extLst xmlns:a="http://schemas.openxmlformats.org/drawingml/2006/main">
              <a:ext uri="{FF2B5EF4-FFF2-40B4-BE49-F238E27FC236}">
                <a16:creationId xmlns:a16="http://schemas.microsoft.com/office/drawing/2014/main" id="{AAF2308C-C2F7-4B71-8385-0E982B5A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同一批请求，不同可命中集合</a:t>
            </a:r>
          </a:p>
        </p:txBody>
      </p:sp>
      <p:sp>
        <p:nvSpPr>
          <p:cNvPr id="10" name="s2-bmc-label">
            <a:extLst xmlns:a="http://schemas.openxmlformats.org/drawingml/2006/main">
              <a:ext uri="{FF2B5EF4-FFF2-40B4-BE49-F238E27FC236}">
                <a16:creationId xmlns:a16="http://schemas.microsoft.com/office/drawing/2014/main" id="{300A7D6C-F05B-459B-8AEC-625A53C1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BMC</a:t>
            </a:r>
          </a:p>
        </p:txBody>
      </p:sp>
      <p:sp>
        <p:nvSpPr>
          <p:cNvPr id="11" name="s2-bmc-slots">
            <a:extLst xmlns:a="http://schemas.openxmlformats.org/drawingml/2006/main">
              <a:ext uri="{FF2B5EF4-FFF2-40B4-BE49-F238E27FC236}">
                <a16:creationId xmlns:a16="http://schemas.microsoft.com/office/drawing/2014/main" id="{39006D2F-28BE-4D87-AD0B-27C0AFDA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4096 slots</a:t>
            </a:r>
          </a:p>
        </p:txBody>
      </p:sp>
      <p:sp>
        <p:nvSpPr>
          <p:cNvPr id="12" name="s2-bmc-learn">
            <a:extLst xmlns:a="http://schemas.openxmlformats.org/drawingml/2006/main">
              <a:ext uri="{FF2B5EF4-FFF2-40B4-BE49-F238E27FC236}">
                <a16:creationId xmlns:a16="http://schemas.microsoft.com/office/drawing/2014/main" id="{F48E6EEF-44AF-4A36-88A8-7CCDA03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24175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+ TC 动态学习冷 key</a:t>
            </a:r>
          </a:p>
        </p:txBody>
      </p:sp>
      <p:sp>
        <p:nvSpPr>
          <p:cNvPr id="13" name="s2-linux-label">
            <a:extLst xmlns:a="http://schemas.openxmlformats.org/drawingml/2006/main">
              <a:ext uri="{FF2B5EF4-FFF2-40B4-BE49-F238E27FC236}">
                <a16:creationId xmlns:a16="http://schemas.microsoft.com/office/drawing/2014/main" id="{F2BEBE41-0AE0-4A58-A5B9-2ECF1DCC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Linux</a:t>
            </a:r>
          </a:p>
        </p:txBody>
      </p:sp>
      <p:sp>
        <p:nvSpPr>
          <p:cNvPr id="14" name="s2-linux-entries">
            <a:extLst xmlns:a="http://schemas.openxmlformats.org/drawingml/2006/main">
              <a:ext uri="{FF2B5EF4-FFF2-40B4-BE49-F238E27FC236}">
                <a16:creationId xmlns:a16="http://schemas.microsoft.com/office/drawing/2014/main" id="{A0FFBE0C-80DC-47C7-B96E-2B81DC28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1024 entries</a:t>
            </a:r>
          </a:p>
        </p:txBody>
      </p:sp>
      <p:sp>
        <p:nvSpPr>
          <p:cNvPr id="15" name="s2-linux-preload">
            <a:extLst xmlns:a="http://schemas.openxmlformats.org/drawingml/2006/main">
              <a:ext uri="{FF2B5EF4-FFF2-40B4-BE49-F238E27FC236}">
                <a16:creationId xmlns:a16="http://schemas.microsoft.com/office/drawing/2014/main" id="{2693CC2F-3404-4338-9385-62BA83A3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19475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控制面静态预装</a:t>
            </a:r>
          </a:p>
        </p:txBody>
      </p:sp>
      <p:sp>
        <p:nvSpPr>
          <p:cNvPr id="16" name="s2-old-divider">
            <a:extLst xmlns:a="http://schemas.openxmlformats.org/drawingml/2006/main">
              <a:ext uri="{FF2B5EF4-FFF2-40B4-BE49-F238E27FC236}">
                <a16:creationId xmlns:a16="http://schemas.microsoft.com/office/drawing/2014/main" id="{4987FE5E-69A3-48CD-A3B6-ABDF2AB1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8B2"/>
          </a:solidFill>
          <a:ln xmlns:a="http://schemas.openxmlformats.org/drawingml/2006/main" w="0">
            <a:solidFill>
              <a:srgbClr val="E9B8B2"/>
            </a:solidFill>
            <a:prstDash val="solid"/>
          </a:ln>
        </p:spPr>
      </p:sp>
      <p:sp>
        <p:nvSpPr>
          <p:cNvPr id="17" name="s2-offload-label">
            <a:extLst xmlns:a="http://schemas.openxmlformats.org/drawingml/2006/main">
              <a:ext uri="{FF2B5EF4-FFF2-40B4-BE49-F238E27FC236}">
                <a16:creationId xmlns:a16="http://schemas.microsoft.com/office/drawing/2014/main" id="{AB9443BA-A0DA-4D64-AA02-E2836F00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offload</a:t>
            </a:r>
          </a:p>
        </p:txBody>
      </p:sp>
      <p:sp>
        <p:nvSpPr>
          <p:cNvPr id="18" name="s2-old-bmc-offload">
            <a:extLst xmlns:a="http://schemas.openxmlformats.org/drawingml/2006/main">
              <a:ext uri="{FF2B5EF4-FFF2-40B4-BE49-F238E27FC236}">
                <a16:creationId xmlns:a16="http://schemas.microsoft.com/office/drawing/2014/main" id="{3570B4F5-08FB-4479-94F1-4C0BB31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24325"/>
            <a:ext cx="1381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26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7262"/>
                </a:solidFill>
                <a:latin typeface="Hiragino Sans"/>
                <a:ea typeface="Hiragino Sans"/>
                <a:cs typeface="Hiragino Sans"/>
              </a:rPr>
              <a:t>BMC 85.65%</a:t>
            </a:r>
          </a:p>
        </p:txBody>
      </p:sp>
      <p:sp>
        <p:nvSpPr>
          <p:cNvPr id="19" name="s2-old-linux-offload">
            <a:extLst xmlns:a="http://schemas.openxmlformats.org/drawingml/2006/main">
              <a:ext uri="{FF2B5EF4-FFF2-40B4-BE49-F238E27FC236}">
                <a16:creationId xmlns:a16="http://schemas.microsoft.com/office/drawing/2014/main" id="{0C51432D-06E1-4BD5-B148-6DD149E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24325"/>
            <a:ext cx="1524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Linux 83.75%</a:t>
            </a:r>
          </a:p>
        </p:txBody>
      </p:sp>
      <p:sp>
        <p:nvSpPr>
          <p:cNvPr id="20" name="s2-invalid-result">
            <a:extLst xmlns:a="http://schemas.openxmlformats.org/drawingml/2006/main">
              <a:ext uri="{FF2B5EF4-FFF2-40B4-BE49-F238E27FC236}">
                <a16:creationId xmlns:a16="http://schemas.microsoft.com/office/drawing/2014/main" id="{FA7B0E0C-909D-4FAE-93D1-2AA8D112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42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6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7262"/>
                </a:solidFill>
                <a:latin typeface="Hiragino Sans"/>
                <a:ea typeface="Hiragino Sans"/>
                <a:cs typeface="Hiragino Sans"/>
              </a:rPr>
              <a:t>153,183 vs 153,422 QPS → +0.16%（不可作为结论）</a:t>
            </a:r>
          </a:p>
        </p:txBody>
      </p:sp>
      <p:sp>
        <p:nvSpPr>
          <p:cNvPr id="21" name="s2-new-panel">
            <a:extLst xmlns:a="http://schemas.openxmlformats.org/drawingml/2006/main">
              <a:ext uri="{FF2B5EF4-FFF2-40B4-BE49-F238E27FC236}">
                <a16:creationId xmlns:a16="http://schemas.microsoft.com/office/drawing/2014/main" id="{9FDFD919-7E2F-4CB8-9CFE-DC404ECC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6959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BF4"/>
          </a:solidFill>
          <a:ln xmlns:a="http://schemas.openxmlformats.org/drawingml/2006/main" w="9525">
            <a:solidFill>
              <a:srgbClr val="4DE2BA"/>
            </a:solidFill>
            <a:prstDash val="solid"/>
          </a:ln>
        </p:spPr>
      </p:sp>
      <p:sp>
        <p:nvSpPr>
          <p:cNvPr id="22" name="s2-new-tag">
            <a:extLst xmlns:a="http://schemas.openxmlformats.org/drawingml/2006/main">
              <a:ext uri="{FF2B5EF4-FFF2-40B4-BE49-F238E27FC236}">
                <a16:creationId xmlns:a16="http://schemas.microsoft.com/office/drawing/2014/main" id="{F07B67C3-B767-4C56-951D-CC33B588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BA"/>
          </a:solidFill>
          <a:ln xmlns:a="http://schemas.openxmlformats.org/drawingml/2006/main" w="0">
            <a:solidFill>
              <a:srgbClr val="4DE2BA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FINAL CROSS-COMPUTE</a:t>
            </a:r>
          </a:p>
        </p:txBody>
      </p:sp>
      <p:sp>
        <p:nvSpPr>
          <p:cNvPr id="23" name="s2-new-heading">
            <a:extLst xmlns:a="http://schemas.openxmlformats.org/drawingml/2006/main">
              <a:ext uri="{FF2B5EF4-FFF2-40B4-BE49-F238E27FC236}">
                <a16:creationId xmlns:a16="http://schemas.microsoft.com/office/drawing/2014/main" id="{1765064D-C088-482F-A19F-65EEF66B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同 ABI · 同 workload · 跨计算节点</a:t>
            </a:r>
          </a:p>
        </p:txBody>
      </p:sp>
      <p:sp>
        <p:nvSpPr>
          <p:cNvPr id="24" name="s2-population">
            <a:extLst xmlns:a="http://schemas.openxmlformats.org/drawingml/2006/main">
              <a:ext uri="{FF2B5EF4-FFF2-40B4-BE49-F238E27FC236}">
                <a16:creationId xmlns:a16="http://schemas.microsoft.com/office/drawing/2014/main" id="{AEEFBBEE-2D15-4281-8963-711807BF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65,536 key population</a:t>
            </a:r>
          </a:p>
        </p:txBody>
      </p:sp>
      <p:sp>
        <p:nvSpPr>
          <p:cNvPr id="25" name="s2-ratio">
            <a:extLst xmlns:a="http://schemas.openxmlformats.org/drawingml/2006/main">
              <a:ext uri="{FF2B5EF4-FFF2-40B4-BE49-F238E27FC236}">
                <a16:creationId xmlns:a16="http://schemas.microsoft.com/office/drawing/2014/main" id="{61BA165B-7681-452B-9CFA-840B8C27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8607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E2B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4DE2BA"/>
                </a:solidFill>
                <a:latin typeface="Hiragino Sans"/>
                <a:ea typeface="Hiragino Sans"/>
                <a:cs typeface="Hiragino Sans"/>
              </a:rPr>
              <a:t>4,096</a:t>
            </a:r>
          </a:p>
        </p:txBody>
      </p:sp>
      <p:sp>
        <p:nvSpPr>
          <p:cNvPr id="26" name="s2-equal-cache">
            <a:extLst xmlns:a="http://schemas.openxmlformats.org/drawingml/2006/main">
              <a:ext uri="{FF2B5EF4-FFF2-40B4-BE49-F238E27FC236}">
                <a16:creationId xmlns:a16="http://schemas.microsoft.com/office/drawing/2014/main" id="{EBFC5E74-D928-4C35-8550-31437DA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hot keys / cache</a:t>
            </a:r>
          </a:p>
        </p:txBody>
      </p:sp>
      <p:sp>
        <p:nvSpPr>
          <p:cNvPr id="27" name="s2-new-bmc-label">
            <a:extLst xmlns:a="http://schemas.openxmlformats.org/drawingml/2006/main">
              <a:ext uri="{FF2B5EF4-FFF2-40B4-BE49-F238E27FC236}">
                <a16:creationId xmlns:a16="http://schemas.microsoft.com/office/drawing/2014/main" id="{608A4E86-4CC6-4F6B-9BFF-5ADD5F59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76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BMC</a:t>
            </a:r>
          </a:p>
        </p:txBody>
      </p:sp>
      <p:sp>
        <p:nvSpPr>
          <p:cNvPr id="28" name="s2-new-bmc-track">
            <a:extLst xmlns:a="http://schemas.openxmlformats.org/drawingml/2006/main">
              <a:ext uri="{FF2B5EF4-FFF2-40B4-BE49-F238E27FC236}">
                <a16:creationId xmlns:a16="http://schemas.microsoft.com/office/drawing/2014/main" id="{6C43F74A-1278-43B8-91EC-770E1629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52825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29" name="s2-new-bmc-fill">
            <a:extLst xmlns:a="http://schemas.openxmlformats.org/drawingml/2006/main">
              <a:ext uri="{FF2B5EF4-FFF2-40B4-BE49-F238E27FC236}">
                <a16:creationId xmlns:a16="http://schemas.microsoft.com/office/drawing/2014/main" id="{3A983861-C99C-43E6-B3AE-18CABB05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52825"/>
            <a:ext cx="2714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359"/>
          </a:solidFill>
          <a:ln xmlns:a="http://schemas.openxmlformats.org/drawingml/2006/main" w="0">
            <a:solidFill>
              <a:srgbClr val="2A4359"/>
            </a:solidFill>
            <a:prstDash val="solid"/>
          </a:ln>
        </p:spPr>
      </p:sp>
      <p:sp>
        <p:nvSpPr>
          <p:cNvPr id="30" name="s2-new-bmc-qps">
            <a:extLst xmlns:a="http://schemas.openxmlformats.org/drawingml/2006/main">
              <a:ext uri="{FF2B5EF4-FFF2-40B4-BE49-F238E27FC236}">
                <a16:creationId xmlns:a16="http://schemas.microsoft.com/office/drawing/2014/main" id="{1CBDA602-62E7-4857-8E37-A0841E2A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766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51,547</a:t>
            </a:r>
          </a:p>
        </p:txBody>
      </p:sp>
      <p:sp>
        <p:nvSpPr>
          <p:cNvPr id="31" name="s2-new-linux-label">
            <a:extLst xmlns:a="http://schemas.openxmlformats.org/drawingml/2006/main">
              <a:ext uri="{FF2B5EF4-FFF2-40B4-BE49-F238E27FC236}">
                <a16:creationId xmlns:a16="http://schemas.microsoft.com/office/drawing/2014/main" id="{9FAAC6E1-3204-4CBF-816F-D684AB38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76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Linux</a:t>
            </a:r>
          </a:p>
        </p:txBody>
      </p:sp>
      <p:sp>
        <p:nvSpPr>
          <p:cNvPr id="32" name="s2-new-linux-track">
            <a:extLst xmlns:a="http://schemas.openxmlformats.org/drawingml/2006/main">
              <a:ext uri="{FF2B5EF4-FFF2-40B4-BE49-F238E27FC236}">
                <a16:creationId xmlns:a16="http://schemas.microsoft.com/office/drawing/2014/main" id="{330E4567-A03E-4B62-8283-8E6C86BB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33" name="s2-new-linux-fill">
            <a:extLst xmlns:a="http://schemas.openxmlformats.org/drawingml/2006/main">
              <a:ext uri="{FF2B5EF4-FFF2-40B4-BE49-F238E27FC236}">
                <a16:creationId xmlns:a16="http://schemas.microsoft.com/office/drawing/2014/main" id="{90A0D7CF-A199-4931-93A5-A4F5F256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4" name="s2-new-linux-qps">
            <a:extLst xmlns:a="http://schemas.openxmlformats.org/drawingml/2006/main">
              <a:ext uri="{FF2B5EF4-FFF2-40B4-BE49-F238E27FC236}">
                <a16:creationId xmlns:a16="http://schemas.microsoft.com/office/drawing/2014/main" id="{582EF0D2-30E4-4294-9148-F6877586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624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68,078</a:t>
            </a:r>
          </a:p>
        </p:txBody>
      </p:sp>
      <p:sp>
        <p:nvSpPr>
          <p:cNvPr id="35" name="s2-new-qps-gain">
            <a:extLst xmlns:a="http://schemas.openxmlformats.org/drawingml/2006/main">
              <a:ext uri="{FF2B5EF4-FFF2-40B4-BE49-F238E27FC236}">
                <a16:creationId xmlns:a16="http://schemas.microsoft.com/office/drawing/2014/main" id="{A8682ED6-8770-4715-B7A7-FE7E4ED0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+32.07% QPS</a:t>
            </a:r>
          </a:p>
        </p:txBody>
      </p:sp>
      <p:sp>
        <p:nvSpPr>
          <p:cNvPr id="36" name="s2-new-offload-gain">
            <a:extLst xmlns:a="http://schemas.openxmlformats.org/drawingml/2006/main">
              <a:ext uri="{FF2B5EF4-FFF2-40B4-BE49-F238E27FC236}">
                <a16:creationId xmlns:a16="http://schemas.microsoft.com/office/drawing/2014/main" id="{5441ACD5-F2C2-4AFD-8766-9AA4A8E8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243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offload Δ +13.674 pp</a:t>
            </a:r>
          </a:p>
        </p:txBody>
      </p:sp>
      <p:sp>
        <p:nvSpPr>
          <p:cNvPr id="37" name="s2-hard-fail-box">
            <a:extLst xmlns:a="http://schemas.openxmlformats.org/drawingml/2006/main">
              <a:ext uri="{FF2B5EF4-FFF2-40B4-BE49-F238E27FC236}">
                <a16:creationId xmlns:a16="http://schemas.microsoft.com/office/drawing/2014/main" id="{57B09E20-0F99-4052-B5CA-32CE0CB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4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38" name="s2-hard-fail-accent">
            <a:extLst xmlns:a="http://schemas.openxmlformats.org/drawingml/2006/main">
              <a:ext uri="{FF2B5EF4-FFF2-40B4-BE49-F238E27FC236}">
                <a16:creationId xmlns:a16="http://schemas.microsoft.com/office/drawing/2014/main" id="{A275C684-3E3B-442C-885A-0F59522F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9" name="s2-hard-fail-title">
            <a:extLst xmlns:a="http://schemas.openxmlformats.org/drawingml/2006/main">
              <a:ext uri="{FF2B5EF4-FFF2-40B4-BE49-F238E27FC236}">
                <a16:creationId xmlns:a16="http://schemas.microsoft.com/office/drawing/2014/main" id="{E626B89C-9513-40AD-89E0-7ABE34B2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1070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harness 已把这类错误变成 hard fail</a:t>
            </a:r>
          </a:p>
        </p:txBody>
      </p:sp>
      <p:sp>
        <p:nvSpPr>
          <p:cNvPr id="40" name="s2-hard-fail-body">
            <a:extLst xmlns:a="http://schemas.openxmlformats.org/drawingml/2006/main">
              <a:ext uri="{FF2B5EF4-FFF2-40B4-BE49-F238E27FC236}">
                <a16:creationId xmlns:a16="http://schemas.microsoft.com/office/drawing/2014/main" id="{37BE7AC3-B381-4F13-8F87-DCB916BC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70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运行时读取 BMC BUILD-METADATA；mixed 场景若 BMC slots、Linux preload 与 workload contract 不一致，实验直接拒跑。</a:t>
            </a:r>
          </a:p>
        </p:txBody>
      </p:sp>
      <p:sp>
        <p:nvSpPr>
          <p:cNvPr id="41" name="s2-footer-line">
            <a:extLst xmlns:a="http://schemas.openxmlformats.org/drawingml/2006/main">
              <a:ext uri="{FF2B5EF4-FFF2-40B4-BE49-F238E27FC236}">
                <a16:creationId xmlns:a16="http://schemas.microsoft.com/office/drawing/2014/main" id="{281689BA-09DB-40EB-AC39-6D5B40A0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4"/>
          </a:solidFill>
          <a:ln xmlns:a="http://schemas.openxmlformats.org/drawingml/2006/main" w="0">
            <a:solidFill>
              <a:srgbClr val="CDD9E4"/>
            </a:solidFill>
            <a:prstDash val="solid"/>
          </a:ln>
        </p:spPr>
      </p:sp>
      <p:sp>
        <p:nvSpPr>
          <p:cNvPr id="42" name="s2-footer-source">
            <a:extLst xmlns:a="http://schemas.openxmlformats.org/drawingml/2006/main">
              <a:ext uri="{FF2B5EF4-FFF2-40B4-BE49-F238E27FC236}">
                <a16:creationId xmlns:a16="http://schemas.microsoft.com/office/drawing/2014/main" id="{1E8B4DF3-199F-49F2-B9C7-6A440EC6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9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Evidence: invalidated pilot + final cross-compute OpenStack mixed · 6 repetitions per mode</a:t>
            </a:r>
          </a:p>
        </p:txBody>
      </p:sp>
    </p:spTree>
    <p:extLst>
      <p:ext uri="{BB962C8B-B14F-4D97-AF65-F5344CB8AC3E}">
        <p14:creationId xmlns:p14="http://schemas.microsoft.com/office/powerpoint/2010/main" val="11067177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3-background">
            <a:extLst xmlns:a="http://schemas.openxmlformats.org/drawingml/2006/main">
              <a:ext uri="{FF2B5EF4-FFF2-40B4-BE49-F238E27FC236}">
                <a16:creationId xmlns:a16="http://schemas.microsoft.com/office/drawing/2014/main" id="{9357DEC6-0048-4472-83DE-4AB1724B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2" name="s3-accent">
            <a:extLst xmlns:a="http://schemas.openxmlformats.org/drawingml/2006/main">
              <a:ext uri="{FF2B5EF4-FFF2-40B4-BE49-F238E27FC236}">
                <a16:creationId xmlns:a16="http://schemas.microsoft.com/office/drawing/2014/main" id="{47F136F4-002B-4FF3-86A1-3C4F8DD6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" name="s3-kicker">
            <a:extLst xmlns:a="http://schemas.openxmlformats.org/drawingml/2006/main">
              <a:ext uri="{FF2B5EF4-FFF2-40B4-BE49-F238E27FC236}">
                <a16:creationId xmlns:a16="http://schemas.microsoft.com/office/drawing/2014/main" id="{B6E7E43C-632E-4F0D-ADC2-6D20ADC8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DIRECT COMPARISON</a:t>
            </a:r>
          </a:p>
        </p:txBody>
      </p:sp>
      <p:sp>
        <p:nvSpPr>
          <p:cNvPr id="4" name="s3-title">
            <a:extLst xmlns:a="http://schemas.openxmlformats.org/drawingml/2006/main">
              <a:ext uri="{FF2B5EF4-FFF2-40B4-BE49-F238E27FC236}">
                <a16:creationId xmlns:a16="http://schemas.microsoft.com/office/drawing/2014/main" id="{6E8A5F69-68EB-47F7-B1E5-95681A83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真正拉开吞吐的，是混合负载下的有效命中率</a:t>
            </a:r>
          </a:p>
        </p:txBody>
      </p:sp>
      <p:sp>
        <p:nvSpPr>
          <p:cNvPr id="5" name="s3-subtitle">
            <a:extLst xmlns:a="http://schemas.openxmlformats.org/drawingml/2006/main">
              <a:ext uri="{FF2B5EF4-FFF2-40B4-BE49-F238E27FC236}">
                <a16:creationId xmlns:a16="http://schemas.microsoft.com/office/drawing/2014/main" id="{96C9BA4E-A35B-4B70-85F1-8113A7BC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以下全部是 linux_accel 相对 BMC；不拿 nohook 的大倍数替代竞品结论。</a:t>
            </a:r>
          </a:p>
        </p:txBody>
      </p:sp>
      <p:sp>
        <p:nvSpPr>
          <p:cNvPr id="6" name="s3-page">
            <a:extLst xmlns:a="http://schemas.openxmlformats.org/drawingml/2006/main">
              <a:ext uri="{FF2B5EF4-FFF2-40B4-BE49-F238E27FC236}">
                <a16:creationId xmlns:a16="http://schemas.microsoft.com/office/drawing/2014/main" id="{B0562D5E-1C07-4956-89B0-AD8D3B0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7" name="s3-chart-panel">
            <a:extLst xmlns:a="http://schemas.openxmlformats.org/drawingml/2006/main">
              <a:ext uri="{FF2B5EF4-FFF2-40B4-BE49-F238E27FC236}">
                <a16:creationId xmlns:a16="http://schemas.microsoft.com/office/drawing/2014/main" id="{4871D045-0B69-461F-938A-1B76B91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2199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8" name="s3-chart-heading">
            <a:extLst xmlns:a="http://schemas.openxmlformats.org/drawingml/2006/main">
              <a:ext uri="{FF2B5EF4-FFF2-40B4-BE49-F238E27FC236}">
                <a16:creationId xmlns:a16="http://schemas.microsoft.com/office/drawing/2014/main" id="{B470358C-89F3-49A2-AE67-78CF9A39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QPS uplift vs. BMC</a:t>
            </a:r>
          </a:p>
        </p:txBody>
      </p:sp>
      <p:sp>
        <p:nvSpPr>
          <p:cNvPr id="9" name="s3-axis-zero">
            <a:extLst xmlns:a="http://schemas.openxmlformats.org/drawingml/2006/main">
              <a:ext uri="{FF2B5EF4-FFF2-40B4-BE49-F238E27FC236}">
                <a16:creationId xmlns:a16="http://schemas.microsoft.com/office/drawing/2014/main" id="{D671C17C-5027-4FEC-9E39-B544CC5C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336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0</a:t>
            </a:r>
          </a:p>
        </p:txBody>
      </p:sp>
      <p:sp>
        <p:nvSpPr>
          <p:cNvPr id="10" name="s3-axis-max">
            <a:extLst xmlns:a="http://schemas.openxmlformats.org/drawingml/2006/main">
              <a:ext uri="{FF2B5EF4-FFF2-40B4-BE49-F238E27FC236}">
                <a16:creationId xmlns:a16="http://schemas.microsoft.com/office/drawing/2014/main" id="{88836DCF-F295-4205-A7A8-4E48255E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33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35%</a:t>
            </a:r>
          </a:p>
        </p:txBody>
      </p:sp>
      <p:sp>
        <p:nvSpPr>
          <p:cNvPr id="11" name="s3-paper-mixed-label">
            <a:extLst xmlns:a="http://schemas.openxmlformats.org/drawingml/2006/main">
              <a:ext uri="{FF2B5EF4-FFF2-40B4-BE49-F238E27FC236}">
                <a16:creationId xmlns:a16="http://schemas.microsoft.com/office/drawing/2014/main" id="{36BE462A-F7AE-42AB-AFA5-81682884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paper-scaled mixed</a:t>
            </a:r>
          </a:p>
        </p:txBody>
      </p:sp>
      <p:sp>
        <p:nvSpPr>
          <p:cNvPr id="12" name="s3-paper-mixed-track">
            <a:extLst xmlns:a="http://schemas.openxmlformats.org/drawingml/2006/main">
              <a:ext uri="{FF2B5EF4-FFF2-40B4-BE49-F238E27FC236}">
                <a16:creationId xmlns:a16="http://schemas.microsoft.com/office/drawing/2014/main" id="{C7355886-11DC-452F-AF08-A50676FE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24150"/>
            <a:ext cx="3924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3" name="s3-paper-mixed-fill">
            <a:extLst xmlns:a="http://schemas.openxmlformats.org/drawingml/2006/main">
              <a:ext uri="{FF2B5EF4-FFF2-40B4-BE49-F238E27FC236}">
                <a16:creationId xmlns:a16="http://schemas.microsoft.com/office/drawing/2014/main" id="{83A05BA3-B82A-41A4-B926-BE85746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24150"/>
            <a:ext cx="2622554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14" name="s3-paper-mixed-value">
            <a:extLst xmlns:a="http://schemas.openxmlformats.org/drawingml/2006/main">
              <a:ext uri="{FF2B5EF4-FFF2-40B4-BE49-F238E27FC236}">
                <a16:creationId xmlns:a16="http://schemas.microsoft.com/office/drawing/2014/main" id="{BB11E455-6FA9-4038-B4B2-6E287B5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+23.39%</a:t>
            </a:r>
          </a:p>
        </p:txBody>
      </p:sp>
      <p:sp>
        <p:nvSpPr>
          <p:cNvPr id="15" name="s3-slot-pressure-label">
            <a:extLst xmlns:a="http://schemas.openxmlformats.org/drawingml/2006/main">
              <a:ext uri="{FF2B5EF4-FFF2-40B4-BE49-F238E27FC236}">
                <a16:creationId xmlns:a16="http://schemas.microsoft.com/office/drawing/2014/main" id="{83AF571D-12F5-49AC-9C20-9B5E9AA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same-slot pressure</a:t>
            </a:r>
          </a:p>
        </p:txBody>
      </p:sp>
      <p:sp>
        <p:nvSpPr>
          <p:cNvPr id="16" name="s3-slot-pressure-track">
            <a:extLst xmlns:a="http://schemas.openxmlformats.org/drawingml/2006/main">
              <a:ext uri="{FF2B5EF4-FFF2-40B4-BE49-F238E27FC236}">
                <a16:creationId xmlns:a16="http://schemas.microsoft.com/office/drawing/2014/main" id="{A65DCFC6-EBC8-4892-8E18-AED3C63F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3924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7" name="s3-slot-pressure-fill">
            <a:extLst xmlns:a="http://schemas.openxmlformats.org/drawingml/2006/main">
              <a:ext uri="{FF2B5EF4-FFF2-40B4-BE49-F238E27FC236}">
                <a16:creationId xmlns:a16="http://schemas.microsoft.com/office/drawing/2014/main" id="{42B0A499-637B-4EAA-A8D7-2399AC1C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2388217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BA"/>
          </a:solidFill>
          <a:ln xmlns:a="http://schemas.openxmlformats.org/drawingml/2006/main" w="0">
            <a:solidFill>
              <a:srgbClr val="4DE2BA"/>
            </a:solidFill>
            <a:prstDash val="solid"/>
          </a:ln>
        </p:spPr>
      </p:sp>
      <p:sp>
        <p:nvSpPr>
          <p:cNvPr id="18" name="s3-slot-pressure-value">
            <a:extLst xmlns:a="http://schemas.openxmlformats.org/drawingml/2006/main">
              <a:ext uri="{FF2B5EF4-FFF2-40B4-BE49-F238E27FC236}">
                <a16:creationId xmlns:a16="http://schemas.microsoft.com/office/drawing/2014/main" id="{45A94891-18DC-4AD5-9AA3-A594419E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04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+21.30%</a:t>
            </a:r>
          </a:p>
        </p:txBody>
      </p:sp>
      <p:sp>
        <p:nvSpPr>
          <p:cNvPr id="19" name="s3-openstack-mixed-label">
            <a:extLst xmlns:a="http://schemas.openxmlformats.org/drawingml/2006/main">
              <a:ext uri="{FF2B5EF4-FFF2-40B4-BE49-F238E27FC236}">
                <a16:creationId xmlns:a16="http://schemas.microsoft.com/office/drawing/2014/main" id="{6416413C-4047-4226-B5C2-0ACAC15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OpenStack cross-compute</a:t>
            </a:r>
          </a:p>
        </p:txBody>
      </p:sp>
      <p:sp>
        <p:nvSpPr>
          <p:cNvPr id="20" name="s3-openstack-mixed-track">
            <a:extLst xmlns:a="http://schemas.openxmlformats.org/drawingml/2006/main">
              <a:ext uri="{FF2B5EF4-FFF2-40B4-BE49-F238E27FC236}">
                <a16:creationId xmlns:a16="http://schemas.microsoft.com/office/drawing/2014/main" id="{C57CCB9F-9C97-44B1-BC09-2F6B7EA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3924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21" name="s3-openstack-mixed-fill">
            <a:extLst xmlns:a="http://schemas.openxmlformats.org/drawingml/2006/main">
              <a:ext uri="{FF2B5EF4-FFF2-40B4-BE49-F238E27FC236}">
                <a16:creationId xmlns:a16="http://schemas.microsoft.com/office/drawing/2014/main" id="{B3A8BB61-2116-42BD-9406-3879FF70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359578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22" name="s3-openstack-mixed-value">
            <a:extLst xmlns:a="http://schemas.openxmlformats.org/drawingml/2006/main">
              <a:ext uri="{FF2B5EF4-FFF2-40B4-BE49-F238E27FC236}">
                <a16:creationId xmlns:a16="http://schemas.microsoft.com/office/drawing/2014/main" id="{CBA094FC-502E-46EE-8579-6B11C47E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+32.07%</a:t>
            </a:r>
          </a:p>
        </p:txBody>
      </p:sp>
      <p:sp>
        <p:nvSpPr>
          <p:cNvPr id="23" name="s3-hot-hit-label">
            <a:extLst xmlns:a="http://schemas.openxmlformats.org/drawingml/2006/main">
              <a:ext uri="{FF2B5EF4-FFF2-40B4-BE49-F238E27FC236}">
                <a16:creationId xmlns:a16="http://schemas.microsoft.com/office/drawing/2014/main" id="{8D42EF88-EBF4-4103-8105-0CB9748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100% hot hit</a:t>
            </a:r>
          </a:p>
        </p:txBody>
      </p:sp>
      <p:sp>
        <p:nvSpPr>
          <p:cNvPr id="24" name="s3-hot-hit-track">
            <a:extLst xmlns:a="http://schemas.openxmlformats.org/drawingml/2006/main">
              <a:ext uri="{FF2B5EF4-FFF2-40B4-BE49-F238E27FC236}">
                <a16:creationId xmlns:a16="http://schemas.microsoft.com/office/drawing/2014/main" id="{5A333181-99D1-4D71-95AA-F7AA21A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24350"/>
            <a:ext cx="3924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25" name="s3-hot-hit-fill">
            <a:extLst xmlns:a="http://schemas.openxmlformats.org/drawingml/2006/main">
              <a:ext uri="{FF2B5EF4-FFF2-40B4-BE49-F238E27FC236}">
                <a16:creationId xmlns:a16="http://schemas.microsoft.com/office/drawing/2014/main" id="{08E783D0-47FA-42EC-A993-28FD226C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24350"/>
            <a:ext cx="357672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359"/>
          </a:solidFill>
          <a:ln xmlns:a="http://schemas.openxmlformats.org/drawingml/2006/main" w="0">
            <a:solidFill>
              <a:srgbClr val="2A4359"/>
            </a:solidFill>
            <a:prstDash val="solid"/>
          </a:ln>
        </p:spPr>
      </p:sp>
      <p:sp>
        <p:nvSpPr>
          <p:cNvPr id="26" name="s3-hot-hit-value">
            <a:extLst xmlns:a="http://schemas.openxmlformats.org/drawingml/2006/main">
              <a:ext uri="{FF2B5EF4-FFF2-40B4-BE49-F238E27FC236}">
                <a16:creationId xmlns:a16="http://schemas.microsoft.com/office/drawing/2014/main" id="{E6E222D5-3A46-40C9-9AF1-7A8CA086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+3.19%</a:t>
            </a:r>
          </a:p>
        </p:txBody>
      </p:sp>
      <p:sp>
        <p:nvSpPr>
          <p:cNvPr id="27" name="s3-all-miss-label">
            <a:extLst xmlns:a="http://schemas.openxmlformats.org/drawingml/2006/main">
              <a:ext uri="{FF2B5EF4-FFF2-40B4-BE49-F238E27FC236}">
                <a16:creationId xmlns:a16="http://schemas.microsoft.com/office/drawing/2014/main" id="{7ECD8C30-334B-4867-A945-CE11E4E1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100% miss/pass</a:t>
            </a:r>
          </a:p>
        </p:txBody>
      </p:sp>
      <p:sp>
        <p:nvSpPr>
          <p:cNvPr id="28" name="s3-all-miss-track">
            <a:extLst xmlns:a="http://schemas.openxmlformats.org/drawingml/2006/main">
              <a:ext uri="{FF2B5EF4-FFF2-40B4-BE49-F238E27FC236}">
                <a16:creationId xmlns:a16="http://schemas.microsoft.com/office/drawing/2014/main" id="{FA16BCC4-544D-48D8-BEBE-6A41C0E2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7750"/>
            <a:ext cx="3924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29" name="s3-all-miss-fill">
            <a:extLst xmlns:a="http://schemas.openxmlformats.org/drawingml/2006/main">
              <a:ext uri="{FF2B5EF4-FFF2-40B4-BE49-F238E27FC236}">
                <a16:creationId xmlns:a16="http://schemas.microsoft.com/office/drawing/2014/main" id="{69333CA1-643E-4382-A13F-9F1B8DA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7750"/>
            <a:ext cx="69516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359"/>
          </a:solidFill>
          <a:ln xmlns:a="http://schemas.openxmlformats.org/drawingml/2006/main" w="0">
            <a:solidFill>
              <a:srgbClr val="2A4359"/>
            </a:solidFill>
            <a:prstDash val="solid"/>
          </a:ln>
        </p:spPr>
      </p:sp>
      <p:sp>
        <p:nvSpPr>
          <p:cNvPr id="30" name="s3-all-miss-value">
            <a:extLst xmlns:a="http://schemas.openxmlformats.org/drawingml/2006/main">
              <a:ext uri="{FF2B5EF4-FFF2-40B4-BE49-F238E27FC236}">
                <a16:creationId xmlns:a16="http://schemas.microsoft.com/office/drawing/2014/main" id="{BD06C2AC-4A65-4F18-AB48-0065EE96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+0.62%</a:t>
            </a:r>
          </a:p>
        </p:txBody>
      </p:sp>
      <p:sp>
        <p:nvSpPr>
          <p:cNvPr id="31" name="s3-chart-note">
            <a:extLst xmlns:a="http://schemas.openxmlformats.org/drawingml/2006/main">
              <a:ext uri="{FF2B5EF4-FFF2-40B4-BE49-F238E27FC236}">
                <a16:creationId xmlns:a16="http://schemas.microsoft.com/office/drawing/2014/main" id="{13857CAB-1CE6-4467-9D47-0D2EF5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netns unless marked OpenStack · 6-run median</a:t>
            </a:r>
          </a:p>
        </p:txBody>
      </p:sp>
      <p:sp>
        <p:nvSpPr>
          <p:cNvPr id="32" name="s3-hit-boundary-box">
            <a:extLst xmlns:a="http://schemas.openxmlformats.org/drawingml/2006/main">
              <a:ext uri="{FF2B5EF4-FFF2-40B4-BE49-F238E27FC236}">
                <a16:creationId xmlns:a16="http://schemas.microsoft.com/office/drawing/2014/main" id="{E35E2EE3-BB33-4437-8597-8DDA2B38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505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33" name="s3-hit-boundary-accent">
            <a:extLst xmlns:a="http://schemas.openxmlformats.org/drawingml/2006/main">
              <a:ext uri="{FF2B5EF4-FFF2-40B4-BE49-F238E27FC236}">
                <a16:creationId xmlns:a16="http://schemas.microsoft.com/office/drawing/2014/main" id="{8092DC2E-DFC3-400F-A31F-7C337366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62"/>
          </a:solidFill>
          <a:ln xmlns:a="http://schemas.openxmlformats.org/drawingml/2006/main" w="0">
            <a:solidFill>
              <a:srgbClr val="FF7262"/>
            </a:solidFill>
            <a:prstDash val="solid"/>
          </a:ln>
        </p:spPr>
      </p:sp>
      <p:sp>
        <p:nvSpPr>
          <p:cNvPr id="34" name="s3-hit-boundary-title">
            <a:extLst xmlns:a="http://schemas.openxmlformats.org/drawingml/2006/main">
              <a:ext uri="{FF2B5EF4-FFF2-40B4-BE49-F238E27FC236}">
                <a16:creationId xmlns:a16="http://schemas.microsoft.com/office/drawing/2014/main" id="{6BD932F7-7514-4194-91CD-CB500FB2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95475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纯命中只领先 3.19%</a:t>
            </a:r>
          </a:p>
        </p:txBody>
      </p:sp>
      <p:sp>
        <p:nvSpPr>
          <p:cNvPr id="35" name="s3-hit-boundary-body">
            <a:extLst xmlns:a="http://schemas.openxmlformats.org/drawingml/2006/main">
              <a:ext uri="{FF2B5EF4-FFF2-40B4-BE49-F238E27FC236}">
                <a16:creationId xmlns:a16="http://schemas.microsoft.com/office/drawing/2014/main" id="{4C175A41-493B-478C-BCEB-51B1BF70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316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双方都是 100% XDP_TX 时，核心单包路径接近。不能宣称我们的 XDP 指令路径快一个数量级。</a:t>
            </a:r>
          </a:p>
        </p:txBody>
      </p:sp>
      <p:sp>
        <p:nvSpPr>
          <p:cNvPr id="36" name="s3-offload-proof-box">
            <a:extLst xmlns:a="http://schemas.openxmlformats.org/drawingml/2006/main">
              <a:ext uri="{FF2B5EF4-FFF2-40B4-BE49-F238E27FC236}">
                <a16:creationId xmlns:a16="http://schemas.microsoft.com/office/drawing/2014/main" id="{F1F7E228-5F36-4B3B-B455-30BB7775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3505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BF4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37" name="s3-offload-proof-accent">
            <a:extLst xmlns:a="http://schemas.openxmlformats.org/drawingml/2006/main">
              <a:ext uri="{FF2B5EF4-FFF2-40B4-BE49-F238E27FC236}">
                <a16:creationId xmlns:a16="http://schemas.microsoft.com/office/drawing/2014/main" id="{D0837196-8A59-4800-BA05-B53497E4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BA"/>
          </a:solidFill>
          <a:ln xmlns:a="http://schemas.openxmlformats.org/drawingml/2006/main" w="0">
            <a:solidFill>
              <a:srgbClr val="4DE2BA"/>
            </a:solidFill>
            <a:prstDash val="solid"/>
          </a:ln>
        </p:spPr>
      </p:sp>
      <p:sp>
        <p:nvSpPr>
          <p:cNvPr id="38" name="s3-offload-proof-title">
            <a:extLst xmlns:a="http://schemas.openxmlformats.org/drawingml/2006/main">
              <a:ext uri="{FF2B5EF4-FFF2-40B4-BE49-F238E27FC236}">
                <a16:creationId xmlns:a16="http://schemas.microsoft.com/office/drawing/2014/main" id="{8986897F-5FDD-415D-B417-FC6BCBA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43275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混合流量多卸载 12–14 pp</a:t>
            </a:r>
          </a:p>
        </p:txBody>
      </p:sp>
      <p:sp>
        <p:nvSpPr>
          <p:cNvPr id="39" name="s3-offload-proof-body">
            <a:extLst xmlns:a="http://schemas.openxmlformats.org/drawingml/2006/main">
              <a:ext uri="{FF2B5EF4-FFF2-40B4-BE49-F238E27FC236}">
                <a16:creationId xmlns:a16="http://schemas.microsoft.com/office/drawing/2014/main" id="{10DC42E8-791A-4CE9-92DB-335D0720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316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exact key 避免 direct-mapped slot 冲突，更多热点不再回落 userspace，因此吞吐提升被放大。</a:t>
            </a:r>
          </a:p>
        </p:txBody>
      </p:sp>
      <p:sp>
        <p:nvSpPr>
          <p:cNvPr id="40" name="s3-answer-pill">
            <a:extLst xmlns:a="http://schemas.openxmlformats.org/drawingml/2006/main">
              <a:ext uri="{FF2B5EF4-FFF2-40B4-BE49-F238E27FC236}">
                <a16:creationId xmlns:a16="http://schemas.microsoft.com/office/drawing/2014/main" id="{FAAED3B9-A367-4DFE-8DB3-595C4B3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505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71625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优势来源：cache organization</a:t>
            </a:r>
          </a:p>
        </p:txBody>
      </p:sp>
      <p:sp>
        <p:nvSpPr>
          <p:cNvPr id="41" name="s3-key-contrast">
            <a:extLst xmlns:a="http://schemas.openxmlformats.org/drawingml/2006/main">
              <a:ext uri="{FF2B5EF4-FFF2-40B4-BE49-F238E27FC236}">
                <a16:creationId xmlns:a16="http://schemas.microsoft.com/office/drawing/2014/main" id="{980311AD-3A2A-4929-B19D-4A883314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91125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BMC: FNV → direct-mapped slot</a:t>
            </a:r>
          </a:p>
          <a:p xmlns:a="http://schemas.openxmlformats.org/drawingml/2006/main">
            <a:pPr algn="l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Linux: tenant/interface-scoped exact hash key</a:t>
            </a:r>
          </a:p>
        </p:txBody>
      </p:sp>
      <p:sp>
        <p:nvSpPr>
          <p:cNvPr id="42" name="s3-footer-line">
            <a:extLst xmlns:a="http://schemas.openxmlformats.org/drawingml/2006/main">
              <a:ext uri="{FF2B5EF4-FFF2-40B4-BE49-F238E27FC236}">
                <a16:creationId xmlns:a16="http://schemas.microsoft.com/office/drawing/2014/main" id="{388CFCA7-5623-4EC7-9CC2-E1BF8F0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4"/>
          </a:solidFill>
          <a:ln xmlns:a="http://schemas.openxmlformats.org/drawingml/2006/main" w="0">
            <a:solidFill>
              <a:srgbClr val="CDD9E4"/>
            </a:solidFill>
            <a:prstDash val="solid"/>
          </a:ln>
        </p:spPr>
      </p:sp>
      <p:sp>
        <p:nvSpPr>
          <p:cNvPr id="43" name="s3-footer-source">
            <a:extLst xmlns:a="http://schemas.openxmlformats.org/drawingml/2006/main">
              <a:ext uri="{FF2B5EF4-FFF2-40B4-BE49-F238E27FC236}">
                <a16:creationId xmlns:a16="http://schemas.microsoft.com/office/drawing/2014/main" id="{8186278A-FB9D-451C-901F-2DF741BD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9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Primary evidence: BMC formal matrix v2 + final cross-compute OpenStack mixed · 6-run medians</a:t>
            </a:r>
          </a:p>
        </p:txBody>
      </p:sp>
    </p:spTree>
    <p:extLst>
      <p:ext uri="{BB962C8B-B14F-4D97-AF65-F5344CB8AC3E}">
        <p14:creationId xmlns:p14="http://schemas.microsoft.com/office/powerpoint/2010/main" val="8232500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4-background">
            <a:extLst xmlns:a="http://schemas.openxmlformats.org/drawingml/2006/main">
              <a:ext uri="{FF2B5EF4-FFF2-40B4-BE49-F238E27FC236}">
                <a16:creationId xmlns:a16="http://schemas.microsoft.com/office/drawing/2014/main" id="{BB05603D-D39D-4756-951D-3BF78D2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2" name="s4-accent">
            <a:extLst xmlns:a="http://schemas.openxmlformats.org/drawingml/2006/main">
              <a:ext uri="{FF2B5EF4-FFF2-40B4-BE49-F238E27FC236}">
                <a16:creationId xmlns:a16="http://schemas.microsoft.com/office/drawing/2014/main" id="{38C5009D-D5D6-450F-B452-44AA45E5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" name="s4-kicker">
            <a:extLst xmlns:a="http://schemas.openxmlformats.org/drawingml/2006/main">
              <a:ext uri="{FF2B5EF4-FFF2-40B4-BE49-F238E27FC236}">
                <a16:creationId xmlns:a16="http://schemas.microsoft.com/office/drawing/2014/main" id="{9296B911-C272-4E7E-B7E9-7134EA7D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ARCHITECTURE</a:t>
            </a:r>
          </a:p>
        </p:txBody>
      </p:sp>
      <p:sp>
        <p:nvSpPr>
          <p:cNvPr id="4" name="s4-title">
            <a:extLst xmlns:a="http://schemas.openxmlformats.org/drawingml/2006/main">
              <a:ext uri="{FF2B5EF4-FFF2-40B4-BE49-F238E27FC236}">
                <a16:creationId xmlns:a16="http://schemas.microsoft.com/office/drawing/2014/main" id="{6FEE1688-EBCB-45BF-A8C2-CAA0E796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BMC 用数据面学习换自动化，我们用精确控制面换隔离与确定性</a:t>
            </a:r>
          </a:p>
        </p:txBody>
      </p:sp>
      <p:sp>
        <p:nvSpPr>
          <p:cNvPr id="5" name="s4-subtitle">
            <a:extLst xmlns:a="http://schemas.openxmlformats.org/drawingml/2006/main">
              <a:ext uri="{FF2B5EF4-FFF2-40B4-BE49-F238E27FC236}">
                <a16:creationId xmlns:a16="http://schemas.microsoft.com/office/drawing/2014/main" id="{AEC92185-0572-4F1D-9BC3-C3AECBBC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两者都能在 ingress XDP 命中后 XDP_TX；不同的是 cache state machine 与 key ownership。</a:t>
            </a:r>
          </a:p>
        </p:txBody>
      </p:sp>
      <p:sp>
        <p:nvSpPr>
          <p:cNvPr id="6" name="s4-page">
            <a:extLst xmlns:a="http://schemas.openxmlformats.org/drawingml/2006/main">
              <a:ext uri="{FF2B5EF4-FFF2-40B4-BE49-F238E27FC236}">
                <a16:creationId xmlns:a16="http://schemas.microsoft.com/office/drawing/2014/main" id="{7534F53A-0852-4CDE-911D-2109D62D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7" name="s4-bmc-panel">
            <a:extLst xmlns:a="http://schemas.openxmlformats.org/drawingml/2006/main">
              <a:ext uri="{FF2B5EF4-FFF2-40B4-BE49-F238E27FC236}">
                <a16:creationId xmlns:a16="http://schemas.microsoft.com/office/drawing/2014/main" id="{D27401FF-A853-4F5F-8BFF-EC67865E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219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8" name="s4-bmc-tag">
            <a:extLst xmlns:a="http://schemas.openxmlformats.org/drawingml/2006/main">
              <a:ext uri="{FF2B5EF4-FFF2-40B4-BE49-F238E27FC236}">
                <a16:creationId xmlns:a16="http://schemas.microsoft.com/office/drawing/2014/main" id="{5BDCFB25-7004-46FC-A12A-4CC1AA9E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359"/>
          </a:solidFill>
          <a:ln xmlns:a="http://schemas.openxmlformats.org/drawingml/2006/main" w="0">
            <a:solidFill>
              <a:srgbClr val="2A4359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BMC · Memcached UDP GET</a:t>
            </a:r>
          </a:p>
        </p:txBody>
      </p:sp>
      <p:sp>
        <p:nvSpPr>
          <p:cNvPr id="9" name="s4-bmc-request">
            <a:extLst xmlns:a="http://schemas.openxmlformats.org/drawingml/2006/main">
              <a:ext uri="{FF2B5EF4-FFF2-40B4-BE49-F238E27FC236}">
                <a16:creationId xmlns:a16="http://schemas.microsoft.com/office/drawing/2014/main" id="{85386132-7F5B-4598-9E18-CDD68582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request packet</a:t>
            </a:r>
          </a:p>
        </p:txBody>
      </p:sp>
      <p:sp>
        <p:nvSpPr>
          <p:cNvPr id="10" name="s4-bmc-arrow1">
            <a:extLst xmlns:a="http://schemas.openxmlformats.org/drawingml/2006/main">
              <a:ext uri="{FF2B5EF4-FFF2-40B4-BE49-F238E27FC236}">
                <a16:creationId xmlns:a16="http://schemas.microsoft.com/office/drawing/2014/main" id="{F2938478-9897-4D67-8671-479330EC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479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s4-bmc-xdp">
            <a:extLst xmlns:a="http://schemas.openxmlformats.org/drawingml/2006/main">
              <a:ext uri="{FF2B5EF4-FFF2-40B4-BE49-F238E27FC236}">
                <a16:creationId xmlns:a16="http://schemas.microsoft.com/office/drawing/2014/main" id="{7B63A7D1-7B45-4235-9EAA-0C160F8A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C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XDP ingress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FNV → slot</a:t>
            </a:r>
          </a:p>
        </p:txBody>
      </p:sp>
      <p:sp>
        <p:nvSpPr>
          <p:cNvPr id="12" name="s4-bmc-arrow2">
            <a:extLst xmlns:a="http://schemas.openxmlformats.org/drawingml/2006/main">
              <a:ext uri="{FF2B5EF4-FFF2-40B4-BE49-F238E27FC236}">
                <a16:creationId xmlns:a16="http://schemas.microsoft.com/office/drawing/2014/main" id="{C0BD0F27-C11D-408A-972C-51EE532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479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s4-bmc-outcome">
            <a:extLst xmlns:a="http://schemas.openxmlformats.org/drawingml/2006/main">
              <a:ext uri="{FF2B5EF4-FFF2-40B4-BE49-F238E27FC236}">
                <a16:creationId xmlns:a16="http://schemas.microsoft.com/office/drawing/2014/main" id="{6B3A9C99-5B72-47DA-A476-51DBF204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336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BF4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hit: XDP_TX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miss: PASS</a:t>
            </a:r>
          </a:p>
        </p:txBody>
      </p:sp>
      <p:sp>
        <p:nvSpPr>
          <p:cNvPr id="14" name="s4-bmc-backend">
            <a:extLst xmlns:a="http://schemas.openxmlformats.org/drawingml/2006/main">
              <a:ext uri="{FF2B5EF4-FFF2-40B4-BE49-F238E27FC236}">
                <a16:creationId xmlns:a16="http://schemas.microsoft.com/office/drawing/2014/main" id="{8E92562B-CD97-487B-9A2F-921D392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userspace backend</a:t>
            </a:r>
          </a:p>
        </p:txBody>
      </p:sp>
      <p:sp>
        <p:nvSpPr>
          <p:cNvPr id="15" name="s4-bmc-response-arrow">
            <a:extLst xmlns:a="http://schemas.openxmlformats.org/drawingml/2006/main">
              <a:ext uri="{FF2B5EF4-FFF2-40B4-BE49-F238E27FC236}">
                <a16:creationId xmlns:a16="http://schemas.microsoft.com/office/drawing/2014/main" id="{81BC1192-75A2-473B-9B28-41F4338F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4332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response →</a:t>
            </a:r>
          </a:p>
        </p:txBody>
      </p:sp>
      <p:sp>
        <p:nvSpPr>
          <p:cNvPr id="16" name="s4-bmc-tc">
            <a:extLst xmlns:a="http://schemas.openxmlformats.org/drawingml/2006/main">
              <a:ext uri="{FF2B5EF4-FFF2-40B4-BE49-F238E27FC236}">
                <a16:creationId xmlns:a16="http://schemas.microsoft.com/office/drawing/2014/main" id="{B435D838-E7C1-4B5D-A105-690CCB4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385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TC egress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learn response</a:t>
            </a:r>
          </a:p>
        </p:txBody>
      </p:sp>
      <p:sp>
        <p:nvSpPr>
          <p:cNvPr id="17" name="s4-bmc-learn-arrow">
            <a:extLst xmlns:a="http://schemas.openxmlformats.org/drawingml/2006/main">
              <a:ext uri="{FF2B5EF4-FFF2-40B4-BE49-F238E27FC236}">
                <a16:creationId xmlns:a16="http://schemas.microsoft.com/office/drawing/2014/main" id="{2500FF85-2789-40C4-8B99-139C67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84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B84D"/>
                </a:solidFill>
                <a:latin typeface="Hiragino Sans"/>
                <a:ea typeface="Hiragino Sans"/>
                <a:cs typeface="Hiragino Sans"/>
              </a:rPr>
              <a:t>↖ fills slot</a:t>
            </a:r>
          </a:p>
        </p:txBody>
      </p:sp>
      <p:sp>
        <p:nvSpPr>
          <p:cNvPr id="18" name="s4-bmc-invalidation">
            <a:extLst xmlns:a="http://schemas.openxmlformats.org/drawingml/2006/main">
              <a:ext uri="{FF2B5EF4-FFF2-40B4-BE49-F238E27FC236}">
                <a16:creationId xmlns:a16="http://schemas.microsoft.com/office/drawing/2014/main" id="{27415F09-FA22-436C-878D-EAEAA1FB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TCP SET parser 触发受限失效</a:t>
            </a:r>
          </a:p>
        </p:txBody>
      </p:sp>
      <p:sp>
        <p:nvSpPr>
          <p:cNvPr id="19" name="s4-bmc-pro">
            <a:extLst xmlns:a="http://schemas.openxmlformats.org/drawingml/2006/main">
              <a:ext uri="{FF2B5EF4-FFF2-40B4-BE49-F238E27FC236}">
                <a16:creationId xmlns:a16="http://schemas.microsoft.com/office/drawing/2014/main" id="{F12AB823-32AA-44A7-B8C2-C48CD2B8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优点：从真实 response 动态学习</a:t>
            </a:r>
          </a:p>
        </p:txBody>
      </p:sp>
      <p:sp>
        <p:nvSpPr>
          <p:cNvPr id="20" name="s4-linux-panel">
            <a:extLst xmlns:a="http://schemas.openxmlformats.org/drawingml/2006/main">
              <a:ext uri="{FF2B5EF4-FFF2-40B4-BE49-F238E27FC236}">
                <a16:creationId xmlns:a16="http://schemas.microsoft.com/office/drawing/2014/main" id="{7D84EE4E-9473-4AEF-8821-E9408A99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55435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21" name="s4-linux-tag">
            <a:extLst xmlns:a="http://schemas.openxmlformats.org/drawingml/2006/main">
              <a:ext uri="{FF2B5EF4-FFF2-40B4-BE49-F238E27FC236}">
                <a16:creationId xmlns:a16="http://schemas.microsoft.com/office/drawing/2014/main" id="{2EF721E9-58ED-4D25-92E9-4EBB6BB1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14525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linux_accel · protocol-aware fast path</a:t>
            </a:r>
          </a:p>
        </p:txBody>
      </p:sp>
      <p:sp>
        <p:nvSpPr>
          <p:cNvPr id="22" name="s4-linux-request">
            <a:extLst xmlns:a="http://schemas.openxmlformats.org/drawingml/2006/main">
              <a:ext uri="{FF2B5EF4-FFF2-40B4-BE49-F238E27FC236}">
                <a16:creationId xmlns:a16="http://schemas.microsoft.com/office/drawing/2014/main" id="{887284F6-EBB7-47B5-B4A8-2503A3C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request packet</a:t>
            </a:r>
          </a:p>
        </p:txBody>
      </p:sp>
      <p:sp>
        <p:nvSpPr>
          <p:cNvPr id="23" name="s4-linux-arrow1">
            <a:extLst xmlns:a="http://schemas.openxmlformats.org/drawingml/2006/main">
              <a:ext uri="{FF2B5EF4-FFF2-40B4-BE49-F238E27FC236}">
                <a16:creationId xmlns:a16="http://schemas.microsoft.com/office/drawing/2014/main" id="{D6F4F49B-EBCC-4543-8F7F-80445D70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4" name="s4-linux-xdp">
            <a:extLst xmlns:a="http://schemas.openxmlformats.org/drawingml/2006/main">
              <a:ext uri="{FF2B5EF4-FFF2-40B4-BE49-F238E27FC236}">
                <a16:creationId xmlns:a16="http://schemas.microsoft.com/office/drawing/2014/main" id="{CECC5CD0-BA5A-4A47-A755-4BAA1FF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C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XDP ingress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exact tuple</a:t>
            </a:r>
          </a:p>
        </p:txBody>
      </p:sp>
      <p:sp>
        <p:nvSpPr>
          <p:cNvPr id="25" name="s4-linux-arrow2">
            <a:extLst xmlns:a="http://schemas.openxmlformats.org/drawingml/2006/main">
              <a:ext uri="{FF2B5EF4-FFF2-40B4-BE49-F238E27FC236}">
                <a16:creationId xmlns:a16="http://schemas.microsoft.com/office/drawing/2014/main" id="{5EB775A7-E0B5-463C-BA3D-A082E8EC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6" name="s4-linux-outcome">
            <a:extLst xmlns:a="http://schemas.openxmlformats.org/drawingml/2006/main">
              <a:ext uri="{FF2B5EF4-FFF2-40B4-BE49-F238E27FC236}">
                <a16:creationId xmlns:a16="http://schemas.microsoft.com/office/drawing/2014/main" id="{A9AA8765-D615-46C0-83E3-65D1E6A3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BF4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hit: XDP_TX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miss: PASS</a:t>
            </a:r>
          </a:p>
        </p:txBody>
      </p:sp>
      <p:sp>
        <p:nvSpPr>
          <p:cNvPr id="27" name="s4-linux-policy">
            <a:extLst xmlns:a="http://schemas.openxmlformats.org/drawingml/2006/main">
              <a:ext uri="{FF2B5EF4-FFF2-40B4-BE49-F238E27FC236}">
                <a16:creationId xmlns:a16="http://schemas.microsoft.com/office/drawing/2014/main" id="{372225AC-4337-4579-B8EE-19A2BF56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policy / interface feed</a:t>
            </a:r>
          </a:p>
        </p:txBody>
      </p:sp>
      <p:sp>
        <p:nvSpPr>
          <p:cNvPr id="28" name="s4-linux-arrow3">
            <a:extLst xmlns:a="http://schemas.openxmlformats.org/drawingml/2006/main">
              <a:ext uri="{FF2B5EF4-FFF2-40B4-BE49-F238E27FC236}">
                <a16:creationId xmlns:a16="http://schemas.microsoft.com/office/drawing/2014/main" id="{E901E59D-EDA6-4086-B637-38B4D28E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9" name="s4-linux-map">
            <a:extLst xmlns:a="http://schemas.openxmlformats.org/drawingml/2006/main">
              <a:ext uri="{FF2B5EF4-FFF2-40B4-BE49-F238E27FC236}">
                <a16:creationId xmlns:a16="http://schemas.microsoft.com/office/drawing/2014/main" id="{137E583D-FE9C-4BBB-A310-8AA46D8D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C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owner-scoped map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preload + expiry</a:t>
            </a:r>
          </a:p>
        </p:txBody>
      </p:sp>
      <p:sp>
        <p:nvSpPr>
          <p:cNvPr id="30" name="s4-linux-lookup-arrow">
            <a:extLst xmlns:a="http://schemas.openxmlformats.org/drawingml/2006/main">
              <a:ext uri="{FF2B5EF4-FFF2-40B4-BE49-F238E27FC236}">
                <a16:creationId xmlns:a16="http://schemas.microsoft.com/office/drawing/2014/main" id="{62E0614F-8B16-4498-9B2C-2C4F623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62375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→ lookup</a:t>
            </a:r>
          </a:p>
        </p:txBody>
      </p:sp>
      <p:sp>
        <p:nvSpPr>
          <p:cNvPr id="31" name="s4-linux-key">
            <a:extLst xmlns:a="http://schemas.openxmlformats.org/drawingml/2006/main">
              <a:ext uri="{FF2B5EF4-FFF2-40B4-BE49-F238E27FC236}">
                <a16:creationId xmlns:a16="http://schemas.microsoft.com/office/drawing/2014/main" id="{F106E151-0A0D-4CAF-8C01-EBA8C987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key = ifindex + service IP/port + request bytes</a:t>
            </a:r>
          </a:p>
        </p:txBody>
      </p:sp>
      <p:sp>
        <p:nvSpPr>
          <p:cNvPr id="32" name="s4-linux-pro">
            <a:extLst xmlns:a="http://schemas.openxmlformats.org/drawingml/2006/main">
              <a:ext uri="{FF2B5EF4-FFF2-40B4-BE49-F238E27FC236}">
                <a16:creationId xmlns:a16="http://schemas.microsoft.com/office/drawing/2014/main" id="{59B7B966-B062-4E18-899C-BBB4E64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优点：tenant/interface 隔离、TTL、策略可审计</a:t>
            </a:r>
          </a:p>
        </p:txBody>
      </p:sp>
      <p:sp>
        <p:nvSpPr>
          <p:cNvPr id="33" name="s4-boundary-box">
            <a:extLst xmlns:a="http://schemas.openxmlformats.org/drawingml/2006/main">
              <a:ext uri="{FF2B5EF4-FFF2-40B4-BE49-F238E27FC236}">
                <a16:creationId xmlns:a16="http://schemas.microsoft.com/office/drawing/2014/main" id="{1D504621-2B6D-4757-98E6-7D079048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71625"/>
            </a:solidFill>
            <a:prstDash val="solid"/>
          </a:ln>
        </p:spPr>
      </p:sp>
      <p:sp>
        <p:nvSpPr>
          <p:cNvPr id="34" name="s4-boundary-accent">
            <a:extLst xmlns:a="http://schemas.openxmlformats.org/drawingml/2006/main">
              <a:ext uri="{FF2B5EF4-FFF2-40B4-BE49-F238E27FC236}">
                <a16:creationId xmlns:a16="http://schemas.microsoft.com/office/drawing/2014/main" id="{DF035952-953D-4EE7-B603-6F4B335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5" name="s4-boundary-title">
            <a:extLst xmlns:a="http://schemas.openxmlformats.org/drawingml/2006/main">
              <a:ext uri="{FF2B5EF4-FFF2-40B4-BE49-F238E27FC236}">
                <a16:creationId xmlns:a16="http://schemas.microsoft.com/office/drawing/2014/main" id="{240BC86D-B3DC-44C6-98C7-91A812C0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答辩边界</a:t>
            </a:r>
          </a:p>
        </p:txBody>
      </p:sp>
      <p:sp>
        <p:nvSpPr>
          <p:cNvPr id="36" name="s4-boundary-body">
            <a:extLst xmlns:a="http://schemas.openxmlformats.org/drawingml/2006/main">
              <a:ext uri="{FF2B5EF4-FFF2-40B4-BE49-F238E27FC236}">
                <a16:creationId xmlns:a16="http://schemas.microsoft.com/office/drawing/2014/main" id="{8EA784D7-3DA8-4350-BECD-1035A431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53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BMC 动态学习更自动；linux_accel 预装策略更精确、可分租户、可恢复。这里是工程取舍，不应伪装成同一机制。</a:t>
            </a:r>
          </a:p>
        </p:txBody>
      </p:sp>
      <p:sp>
        <p:nvSpPr>
          <p:cNvPr id="37" name="s4-footer-line">
            <a:extLst xmlns:a="http://schemas.openxmlformats.org/drawingml/2006/main">
              <a:ext uri="{FF2B5EF4-FFF2-40B4-BE49-F238E27FC236}">
                <a16:creationId xmlns:a16="http://schemas.microsoft.com/office/drawing/2014/main" id="{240AA6CA-BF0D-4891-BE22-E07762C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4"/>
          </a:solidFill>
          <a:ln xmlns:a="http://schemas.openxmlformats.org/drawingml/2006/main" w="0">
            <a:solidFill>
              <a:srgbClr val="CDD9E4"/>
            </a:solidFill>
            <a:prstDash val="solid"/>
          </a:ln>
        </p:spPr>
      </p:sp>
      <p:sp>
        <p:nvSpPr>
          <p:cNvPr id="38" name="s4-footer-source">
            <a:extLst xmlns:a="http://schemas.openxmlformats.org/drawingml/2006/main">
              <a:ext uri="{FF2B5EF4-FFF2-40B4-BE49-F238E27FC236}">
                <a16:creationId xmlns:a16="http://schemas.microsoft.com/office/drawing/2014/main" id="{388CC5F0-BBB8-440E-AC26-F1D8102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9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BMC fixed commit 2997145508e0 · audited Linux 7.0/libbpf 1.6 compatibility patch</a:t>
            </a:r>
          </a:p>
        </p:txBody>
      </p:sp>
    </p:spTree>
    <p:extLst>
      <p:ext uri="{BB962C8B-B14F-4D97-AF65-F5344CB8AC3E}">
        <p14:creationId xmlns:p14="http://schemas.microsoft.com/office/powerpoint/2010/main" val="12477203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5-background">
            <a:extLst xmlns:a="http://schemas.openxmlformats.org/drawingml/2006/main">
              <a:ext uri="{FF2B5EF4-FFF2-40B4-BE49-F238E27FC236}">
                <a16:creationId xmlns:a16="http://schemas.microsoft.com/office/drawing/2014/main" id="{1F1F8762-8739-44AB-898A-C8B19CC0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2" name="s5-accent">
            <a:extLst xmlns:a="http://schemas.openxmlformats.org/drawingml/2006/main">
              <a:ext uri="{FF2B5EF4-FFF2-40B4-BE49-F238E27FC236}">
                <a16:creationId xmlns:a16="http://schemas.microsoft.com/office/drawing/2014/main" id="{483C73A1-E5C5-42D9-ACF5-13C98851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" name="s5-kicker">
            <a:extLst xmlns:a="http://schemas.openxmlformats.org/drawingml/2006/main">
              <a:ext uri="{FF2B5EF4-FFF2-40B4-BE49-F238E27FC236}">
                <a16:creationId xmlns:a16="http://schemas.microsoft.com/office/drawing/2014/main" id="{386EFE0F-68ED-4BB6-8819-1ED7B70E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OPENSTACK PROOF</a:t>
            </a:r>
          </a:p>
        </p:txBody>
      </p:sp>
      <p:sp>
        <p:nvSpPr>
          <p:cNvPr id="4" name="s5-title">
            <a:extLst xmlns:a="http://schemas.openxmlformats.org/drawingml/2006/main">
              <a:ext uri="{FF2B5EF4-FFF2-40B4-BE49-F238E27FC236}">
                <a16:creationId xmlns:a16="http://schemas.microsoft.com/office/drawing/2014/main" id="{53885937-1259-42B4-8A90-579366BD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跨计算节点 mixed 下，吞吐与三档延迟同时优于 BMC</a:t>
            </a:r>
          </a:p>
        </p:txBody>
      </p:sp>
      <p:sp>
        <p:nvSpPr>
          <p:cNvPr id="5" name="s5-subtitle">
            <a:extLst xmlns:a="http://schemas.openxmlformats.org/drawingml/2006/main">
              <a:ext uri="{FF2B5EF4-FFF2-40B4-BE49-F238E27FC236}">
                <a16:creationId xmlns:a16="http://schemas.microsoft.com/office/drawing/2014/main" id="{AB865CE9-572D-455A-8F13-2BD024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路径真实穿过 client VM/TAP、OVS/OVN/Geneve 与 backend VM；6-run median。</a:t>
            </a:r>
          </a:p>
        </p:txBody>
      </p:sp>
      <p:sp>
        <p:nvSpPr>
          <p:cNvPr id="6" name="s5-page">
            <a:extLst xmlns:a="http://schemas.openxmlformats.org/drawingml/2006/main">
              <a:ext uri="{FF2B5EF4-FFF2-40B4-BE49-F238E27FC236}">
                <a16:creationId xmlns:a16="http://schemas.microsoft.com/office/drawing/2014/main" id="{0CA533A6-8819-440F-B9D0-5C1AD146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7" name="s5-path-vm">
            <a:extLst xmlns:a="http://schemas.openxmlformats.org/drawingml/2006/main">
              <a:ext uri="{FF2B5EF4-FFF2-40B4-BE49-F238E27FC236}">
                <a16:creationId xmlns:a16="http://schemas.microsoft.com/office/drawing/2014/main" id="{21290355-23A3-4466-BF2C-D59EA7D1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VM ens3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virtio</a:t>
            </a:r>
          </a:p>
        </p:txBody>
      </p:sp>
      <p:sp>
        <p:nvSpPr>
          <p:cNvPr id="8" name="s5-path-arrow1">
            <a:extLst xmlns:a="http://schemas.openxmlformats.org/drawingml/2006/main">
              <a:ext uri="{FF2B5EF4-FFF2-40B4-BE49-F238E27FC236}">
                <a16:creationId xmlns:a16="http://schemas.microsoft.com/office/drawing/2014/main" id="{6A396B17-D7A7-4836-8C6B-47D376E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335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9" name="s5-path-tap">
            <a:extLst xmlns:a="http://schemas.openxmlformats.org/drawingml/2006/main">
              <a:ext uri="{FF2B5EF4-FFF2-40B4-BE49-F238E27FC236}">
                <a16:creationId xmlns:a16="http://schemas.microsoft.com/office/drawing/2014/main" id="{124F0A5D-249E-47DC-9025-7E95B167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09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C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host TAP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generic XDP</a:t>
            </a:r>
          </a:p>
        </p:txBody>
      </p:sp>
      <p:sp>
        <p:nvSpPr>
          <p:cNvPr id="10" name="s5-path-arrow2">
            <a:extLst xmlns:a="http://schemas.openxmlformats.org/drawingml/2006/main">
              <a:ext uri="{FF2B5EF4-FFF2-40B4-BE49-F238E27FC236}">
                <a16:creationId xmlns:a16="http://schemas.microsoft.com/office/drawing/2014/main" id="{CC11296A-414D-4E04-BA77-180126D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335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s5-path-ovs">
            <a:extLst xmlns:a="http://schemas.openxmlformats.org/drawingml/2006/main">
              <a:ext uri="{FF2B5EF4-FFF2-40B4-BE49-F238E27FC236}">
                <a16:creationId xmlns:a16="http://schemas.microsoft.com/office/drawing/2014/main" id="{D9CD1426-2844-44A0-9224-2B9688B0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OVS br-int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OVN</a:t>
            </a:r>
          </a:p>
        </p:txBody>
      </p:sp>
      <p:sp>
        <p:nvSpPr>
          <p:cNvPr id="12" name="s5-path-arrow3">
            <a:extLst xmlns:a="http://schemas.openxmlformats.org/drawingml/2006/main">
              <a:ext uri="{FF2B5EF4-FFF2-40B4-BE49-F238E27FC236}">
                <a16:creationId xmlns:a16="http://schemas.microsoft.com/office/drawing/2014/main" id="{81FEB951-0F83-44A6-9801-541117E5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335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s5-path-backend">
            <a:extLst xmlns:a="http://schemas.openxmlformats.org/drawingml/2006/main">
              <a:ext uri="{FF2B5EF4-FFF2-40B4-BE49-F238E27FC236}">
                <a16:creationId xmlns:a16="http://schemas.microsoft.com/office/drawing/2014/main" id="{0018C1D6-EF99-4F22-A900-AC6438E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Geneve</a:t>
            </a:r>
          </a:p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backend VM node2</a:t>
            </a:r>
          </a:p>
        </p:txBody>
      </p:sp>
      <p:sp>
        <p:nvSpPr>
          <p:cNvPr id="14" name="s5-qps-panel">
            <a:extLst xmlns:a="http://schemas.openxmlformats.org/drawingml/2006/main">
              <a:ext uri="{FF2B5EF4-FFF2-40B4-BE49-F238E27FC236}">
                <a16:creationId xmlns:a16="http://schemas.microsoft.com/office/drawing/2014/main" id="{5B154688-8D2C-4C8E-AE50-EF1AA5DF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619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15" name="s5-qps-heading">
            <a:extLst xmlns:a="http://schemas.openxmlformats.org/drawingml/2006/main">
              <a:ext uri="{FF2B5EF4-FFF2-40B4-BE49-F238E27FC236}">
                <a16:creationId xmlns:a16="http://schemas.microsoft.com/office/drawing/2014/main" id="{B130A3A9-E2C0-433E-AD19-AFFEAEB7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Mixed QPS · 6-run median</a:t>
            </a:r>
          </a:p>
        </p:txBody>
      </p:sp>
      <p:sp>
        <p:nvSpPr>
          <p:cNvPr id="16" name="s5-nohook-bar-label">
            <a:extLst xmlns:a="http://schemas.openxmlformats.org/drawingml/2006/main">
              <a:ext uri="{FF2B5EF4-FFF2-40B4-BE49-F238E27FC236}">
                <a16:creationId xmlns:a16="http://schemas.microsoft.com/office/drawing/2014/main" id="{A1F41633-2148-4229-AB74-8E07BEA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nohook</a:t>
            </a:r>
          </a:p>
        </p:txBody>
      </p:sp>
      <p:sp>
        <p:nvSpPr>
          <p:cNvPr id="17" name="s5-nohook-bar-track">
            <a:extLst xmlns:a="http://schemas.openxmlformats.org/drawingml/2006/main">
              <a:ext uri="{FF2B5EF4-FFF2-40B4-BE49-F238E27FC236}">
                <a16:creationId xmlns:a16="http://schemas.microsoft.com/office/drawing/2014/main" id="{96DDA9CB-46D3-4522-A6CC-0E960BB4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43300"/>
            <a:ext cx="3067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8" name="s5-nohook-bar-fill">
            <a:extLst xmlns:a="http://schemas.openxmlformats.org/drawingml/2006/main">
              <a:ext uri="{FF2B5EF4-FFF2-40B4-BE49-F238E27FC236}">
                <a16:creationId xmlns:a16="http://schemas.microsoft.com/office/drawing/2014/main" id="{6D4D7987-07B7-40D1-9283-62D1FAA5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43300"/>
            <a:ext cx="892818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359"/>
          </a:solidFill>
          <a:ln xmlns:a="http://schemas.openxmlformats.org/drawingml/2006/main" w="0">
            <a:solidFill>
              <a:srgbClr val="2A4359"/>
            </a:solidFill>
            <a:prstDash val="solid"/>
          </a:ln>
        </p:spPr>
      </p:sp>
      <p:sp>
        <p:nvSpPr>
          <p:cNvPr id="19" name="s5-nohook-bar-value">
            <a:extLst xmlns:a="http://schemas.openxmlformats.org/drawingml/2006/main">
              <a:ext uri="{FF2B5EF4-FFF2-40B4-BE49-F238E27FC236}">
                <a16:creationId xmlns:a16="http://schemas.microsoft.com/office/drawing/2014/main" id="{96B1EFEC-6609-472E-9D35-29E7B52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861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23,288</a:t>
            </a:r>
          </a:p>
        </p:txBody>
      </p:sp>
      <p:sp>
        <p:nvSpPr>
          <p:cNvPr id="20" name="s5-bmc-bar-label">
            <a:extLst xmlns:a="http://schemas.openxmlformats.org/drawingml/2006/main">
              <a:ext uri="{FF2B5EF4-FFF2-40B4-BE49-F238E27FC236}">
                <a16:creationId xmlns:a16="http://schemas.microsoft.com/office/drawing/2014/main" id="{867C598E-A925-4A28-A258-D3877809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BMC</a:t>
            </a:r>
          </a:p>
        </p:txBody>
      </p:sp>
      <p:sp>
        <p:nvSpPr>
          <p:cNvPr id="21" name="s5-bmc-bar-track">
            <a:extLst xmlns:a="http://schemas.openxmlformats.org/drawingml/2006/main">
              <a:ext uri="{FF2B5EF4-FFF2-40B4-BE49-F238E27FC236}">
                <a16:creationId xmlns:a16="http://schemas.microsoft.com/office/drawing/2014/main" id="{D8E0D0DF-C34A-4E02-83F0-C1D3476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3067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22" name="s5-bmc-bar-fill">
            <a:extLst xmlns:a="http://schemas.openxmlformats.org/drawingml/2006/main">
              <a:ext uri="{FF2B5EF4-FFF2-40B4-BE49-F238E27FC236}">
                <a16:creationId xmlns:a16="http://schemas.microsoft.com/office/drawing/2014/main" id="{2D351EAA-624A-4C56-965E-0F18F28C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197621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3" name="s5-bmc-bar-value">
            <a:extLst xmlns:a="http://schemas.openxmlformats.org/drawingml/2006/main">
              <a:ext uri="{FF2B5EF4-FFF2-40B4-BE49-F238E27FC236}">
                <a16:creationId xmlns:a16="http://schemas.microsoft.com/office/drawing/2014/main" id="{BFA6D111-176E-46DE-9E5E-44028C49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576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51,547</a:t>
            </a:r>
          </a:p>
        </p:txBody>
      </p:sp>
      <p:sp>
        <p:nvSpPr>
          <p:cNvPr id="24" name="s5-linux-bar-label">
            <a:extLst xmlns:a="http://schemas.openxmlformats.org/drawingml/2006/main">
              <a:ext uri="{FF2B5EF4-FFF2-40B4-BE49-F238E27FC236}">
                <a16:creationId xmlns:a16="http://schemas.microsoft.com/office/drawing/2014/main" id="{7F9273DE-E088-45F7-BD67-9C4C9B0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linux_accel</a:t>
            </a:r>
          </a:p>
        </p:txBody>
      </p:sp>
      <p:sp>
        <p:nvSpPr>
          <p:cNvPr id="25" name="s5-linux-bar-track">
            <a:extLst xmlns:a="http://schemas.openxmlformats.org/drawingml/2006/main">
              <a:ext uri="{FF2B5EF4-FFF2-40B4-BE49-F238E27FC236}">
                <a16:creationId xmlns:a16="http://schemas.microsoft.com/office/drawing/2014/main" id="{1A0F5A73-CEBB-496E-8642-B720301E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3067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26" name="s5-linux-bar-fill">
            <a:extLst xmlns:a="http://schemas.openxmlformats.org/drawingml/2006/main">
              <a:ext uri="{FF2B5EF4-FFF2-40B4-BE49-F238E27FC236}">
                <a16:creationId xmlns:a16="http://schemas.microsoft.com/office/drawing/2014/main" id="{2F1E3E89-52DF-4CC6-A31C-DCA321D5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2609983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27" name="s5-linux-bar-value">
            <a:extLst xmlns:a="http://schemas.openxmlformats.org/drawingml/2006/main">
              <a:ext uri="{FF2B5EF4-FFF2-40B4-BE49-F238E27FC236}">
                <a16:creationId xmlns:a16="http://schemas.microsoft.com/office/drawing/2014/main" id="{0B3F6012-2D23-4766-AE9B-142291BB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68,078</a:t>
            </a:r>
          </a:p>
        </p:txBody>
      </p:sp>
      <p:sp>
        <p:nvSpPr>
          <p:cNvPr id="28" name="s5-qps-ratio">
            <a:extLst xmlns:a="http://schemas.openxmlformats.org/drawingml/2006/main">
              <a:ext uri="{FF2B5EF4-FFF2-40B4-BE49-F238E27FC236}">
                <a16:creationId xmlns:a16="http://schemas.microsoft.com/office/drawing/2014/main" id="{C91F94E6-DB8E-4E9F-B05E-C2127C6C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Linux / BMC = 1.321x</a:t>
            </a:r>
          </a:p>
        </p:txBody>
      </p:sp>
      <p:sp>
        <p:nvSpPr>
          <p:cNvPr id="29" name="s5-offload-result">
            <a:extLst xmlns:a="http://schemas.openxmlformats.org/drawingml/2006/main">
              <a:ext uri="{FF2B5EF4-FFF2-40B4-BE49-F238E27FC236}">
                <a16:creationId xmlns:a16="http://schemas.microsoft.com/office/drawing/2014/main" id="{0AA46AE0-0E54-40A7-9FA6-C43BFF39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67325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offload 75.080% vs 61.406%</a:t>
            </a:r>
          </a:p>
        </p:txBody>
      </p:sp>
      <p:sp>
        <p:nvSpPr>
          <p:cNvPr id="30" name="s5-latency-panel">
            <a:extLst xmlns:a="http://schemas.openxmlformats.org/drawingml/2006/main">
              <a:ext uri="{FF2B5EF4-FFF2-40B4-BE49-F238E27FC236}">
                <a16:creationId xmlns:a16="http://schemas.microsoft.com/office/drawing/2014/main" id="{090C6570-08B4-4F35-AC53-CBA50C9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4572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71625"/>
            </a:solidFill>
            <a:prstDash val="solid"/>
          </a:ln>
        </p:spPr>
      </p:sp>
      <p:sp>
        <p:nvSpPr>
          <p:cNvPr id="31" name="s5-latency-heading">
            <a:extLst xmlns:a="http://schemas.openxmlformats.org/drawingml/2006/main">
              <a:ext uri="{FF2B5EF4-FFF2-40B4-BE49-F238E27FC236}">
                <a16:creationId xmlns:a16="http://schemas.microsoft.com/office/drawing/2014/main" id="{5ECF5B56-EB1F-49D2-A516-914DD31B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718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Latency reduction vs. BMC</a:t>
            </a:r>
          </a:p>
        </p:txBody>
      </p:sp>
      <p:sp>
        <p:nvSpPr>
          <p:cNvPr id="32" name="s5-p50-value">
            <a:extLst xmlns:a="http://schemas.openxmlformats.org/drawingml/2006/main">
              <a:ext uri="{FF2B5EF4-FFF2-40B4-BE49-F238E27FC236}">
                <a16:creationId xmlns:a16="http://schemas.microsoft.com/office/drawing/2014/main" id="{B3B50583-5547-4ADC-AC73-490113A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8615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E2B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4DE2BA"/>
                </a:solidFill>
                <a:latin typeface="Hiragino Sans"/>
                <a:ea typeface="Hiragino Sans"/>
                <a:cs typeface="Hiragino Sans"/>
              </a:rPr>
              <a:t>−2.47%</a:t>
            </a:r>
          </a:p>
        </p:txBody>
      </p:sp>
      <p:sp>
        <p:nvSpPr>
          <p:cNvPr id="33" name="s5-p50-label">
            <a:extLst xmlns:a="http://schemas.openxmlformats.org/drawingml/2006/main">
              <a:ext uri="{FF2B5EF4-FFF2-40B4-BE49-F238E27FC236}">
                <a16:creationId xmlns:a16="http://schemas.microsoft.com/office/drawing/2014/main" id="{34EA320B-C20B-438B-97CC-85F15EFA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38600"/>
            <a:ext cx="1857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p50 · 11.099 → 10.825 us</a:t>
            </a:r>
          </a:p>
        </p:txBody>
      </p:sp>
      <p:sp>
        <p:nvSpPr>
          <p:cNvPr id="34" name="s5-p95-value">
            <a:extLst xmlns:a="http://schemas.openxmlformats.org/drawingml/2006/main">
              <a:ext uri="{FF2B5EF4-FFF2-40B4-BE49-F238E27FC236}">
                <a16:creationId xmlns:a16="http://schemas.microsoft.com/office/drawing/2014/main" id="{62A12DB0-8F2E-42F6-9C62-E1A5BC56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861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E2B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4DE2BA"/>
                </a:solidFill>
                <a:latin typeface="Hiragino Sans"/>
                <a:ea typeface="Hiragino Sans"/>
                <a:cs typeface="Hiragino Sans"/>
              </a:rPr>
              <a:t>−1.51%</a:t>
            </a:r>
          </a:p>
        </p:txBody>
      </p:sp>
      <p:sp>
        <p:nvSpPr>
          <p:cNvPr id="35" name="s5-p95-label">
            <a:extLst xmlns:a="http://schemas.openxmlformats.org/drawingml/2006/main">
              <a:ext uri="{FF2B5EF4-FFF2-40B4-BE49-F238E27FC236}">
                <a16:creationId xmlns:a16="http://schemas.microsoft.com/office/drawing/2014/main" id="{1E0822B1-1D3E-402F-BCB1-C4DC3A8E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386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p95 · 90.236 → 88.874 us</a:t>
            </a:r>
          </a:p>
        </p:txBody>
      </p:sp>
      <p:sp>
        <p:nvSpPr>
          <p:cNvPr id="36" name="s5-p99-value">
            <a:extLst xmlns:a="http://schemas.openxmlformats.org/drawingml/2006/main">
              <a:ext uri="{FF2B5EF4-FFF2-40B4-BE49-F238E27FC236}">
                <a16:creationId xmlns:a16="http://schemas.microsoft.com/office/drawing/2014/main" id="{E6372FA7-32EE-4C22-BB81-093A4DB2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29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−1.48%</a:t>
            </a:r>
          </a:p>
        </p:txBody>
      </p:sp>
      <p:sp>
        <p:nvSpPr>
          <p:cNvPr id="37" name="s5-p99-label">
            <a:extLst xmlns:a="http://schemas.openxmlformats.org/drawingml/2006/main">
              <a:ext uri="{FF2B5EF4-FFF2-40B4-BE49-F238E27FC236}">
                <a16:creationId xmlns:a16="http://schemas.microsoft.com/office/drawing/2014/main" id="{72D19320-819E-4FE1-8DF4-D21A66E5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81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p99 · 97.212 → 95.769 us</a:t>
            </a:r>
          </a:p>
        </p:txBody>
      </p:sp>
      <p:sp>
        <p:nvSpPr>
          <p:cNvPr id="38" name="s5-zero-error">
            <a:extLst xmlns:a="http://schemas.openxmlformats.org/drawingml/2006/main">
              <a:ext uri="{FF2B5EF4-FFF2-40B4-BE49-F238E27FC236}">
                <a16:creationId xmlns:a16="http://schemas.microsoft.com/office/drawing/2014/main" id="{619682B0-F780-4FCC-A6E0-B654F63C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95825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359"/>
          </a:solidFill>
          <a:ln xmlns:a="http://schemas.openxmlformats.org/drawingml/2006/main" w="0">
            <a:solidFill>
              <a:srgbClr val="2A4359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 failure · 0 checksum error · 0 softnet drop</a:t>
            </a:r>
          </a:p>
        </p:txBody>
      </p:sp>
      <p:sp>
        <p:nvSpPr>
          <p:cNvPr id="39" name="s5-cleanup-note">
            <a:extLst xmlns:a="http://schemas.openxmlformats.org/drawingml/2006/main">
              <a:ext uri="{FF2B5EF4-FFF2-40B4-BE49-F238E27FC236}">
                <a16:creationId xmlns:a16="http://schemas.microsoft.com/office/drawing/2014/main" id="{878F0AAA-1EB9-42AC-8811-F2A5601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24500"/>
            <a:ext cx="403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A4B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8DA4B7"/>
                </a:solidFill>
                <a:latin typeface="Hiragino Sans"/>
                <a:ea typeface="Hiragino Sans"/>
                <a:cs typeface="Hiragino Sans"/>
              </a:rPr>
              <a:t>Owner-checked cleanup: TAP qdisc restored to noqueue; no test BPF hooks remained.</a:t>
            </a:r>
          </a:p>
        </p:txBody>
      </p:sp>
      <p:sp>
        <p:nvSpPr>
          <p:cNvPr id="40" name="s5-footer-line">
            <a:extLst xmlns:a="http://schemas.openxmlformats.org/drawingml/2006/main">
              <a:ext uri="{FF2B5EF4-FFF2-40B4-BE49-F238E27FC236}">
                <a16:creationId xmlns:a16="http://schemas.microsoft.com/office/drawing/2014/main" id="{CFD14949-A7FE-4A9B-A9D0-9797BB70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4"/>
          </a:solidFill>
          <a:ln xmlns:a="http://schemas.openxmlformats.org/drawingml/2006/main" w="0">
            <a:solidFill>
              <a:srgbClr val="CDD9E4"/>
            </a:solidFill>
            <a:prstDash val="solid"/>
          </a:ln>
        </p:spPr>
      </p:sp>
      <p:sp>
        <p:nvSpPr>
          <p:cNvPr id="41" name="s5-footer-source">
            <a:extLst xmlns:a="http://schemas.openxmlformats.org/drawingml/2006/main">
              <a:ext uri="{FF2B5EF4-FFF2-40B4-BE49-F238E27FC236}">
                <a16:creationId xmlns:a16="http://schemas.microsoft.com/office/drawing/2014/main" id="{55DF1FA2-A958-438D-8C73-2D0F14D6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9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Artifact: all-comparisons/20260814-node1-v1/openstack-bmc-formal-v1 · 6 runs</a:t>
            </a:r>
          </a:p>
        </p:txBody>
      </p:sp>
    </p:spTree>
    <p:extLst>
      <p:ext uri="{BB962C8B-B14F-4D97-AF65-F5344CB8AC3E}">
        <p14:creationId xmlns:p14="http://schemas.microsoft.com/office/powerpoint/2010/main" val="6905885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6-background">
            <a:extLst xmlns:a="http://schemas.openxmlformats.org/drawingml/2006/main">
              <a:ext uri="{FF2B5EF4-FFF2-40B4-BE49-F238E27FC236}">
                <a16:creationId xmlns:a16="http://schemas.microsoft.com/office/drawing/2014/main" id="{4F389484-2233-4685-9393-3E6A9A8C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</p:sp>
      <p:sp>
        <p:nvSpPr>
          <p:cNvPr id="2" name="s6-accent">
            <a:extLst xmlns:a="http://schemas.openxmlformats.org/drawingml/2006/main">
              <a:ext uri="{FF2B5EF4-FFF2-40B4-BE49-F238E27FC236}">
                <a16:creationId xmlns:a16="http://schemas.microsoft.com/office/drawing/2014/main" id="{F24E3B48-6E07-4A5E-AC3A-D77DE7E0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" name="s6-kicker">
            <a:extLst xmlns:a="http://schemas.openxmlformats.org/drawingml/2006/main">
              <a:ext uri="{FF2B5EF4-FFF2-40B4-BE49-F238E27FC236}">
                <a16:creationId xmlns:a16="http://schemas.microsoft.com/office/drawing/2014/main" id="{0358B42A-24ED-4F5B-A30A-414CD8B0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PROTOCOL PORTFOLIO</a:t>
            </a:r>
          </a:p>
        </p:txBody>
      </p:sp>
      <p:sp>
        <p:nvSpPr>
          <p:cNvPr id="4" name="s6-title">
            <a:extLst xmlns:a="http://schemas.openxmlformats.org/drawingml/2006/main">
              <a:ext uri="{FF2B5EF4-FFF2-40B4-BE49-F238E27FC236}">
                <a16:creationId xmlns:a16="http://schemas.microsoft.com/office/drawing/2014/main" id="{A87B6B7D-39CF-41FE-8F14-29DBC352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优势不止 DNS，但每个协议必须用对 baseline</a:t>
            </a:r>
          </a:p>
        </p:txBody>
      </p:sp>
      <p:sp>
        <p:nvSpPr>
          <p:cNvPr id="5" name="s6-subtitle">
            <a:extLst xmlns:a="http://schemas.openxmlformats.org/drawingml/2006/main">
              <a:ext uri="{FF2B5EF4-FFF2-40B4-BE49-F238E27FC236}">
                <a16:creationId xmlns:a16="http://schemas.microsoft.com/office/drawing/2014/main" id="{6CA0CEB3-1F5D-407D-BBFE-83CB942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BMC 只实现 Memcached；跨协议不能硬凑一个“总体加速比”，更不能把不同语义的倍数平均。</a:t>
            </a:r>
          </a:p>
        </p:txBody>
      </p:sp>
      <p:sp>
        <p:nvSpPr>
          <p:cNvPr id="6" name="s6-page">
            <a:extLst xmlns:a="http://schemas.openxmlformats.org/drawingml/2006/main">
              <a:ext uri="{FF2B5EF4-FFF2-40B4-BE49-F238E27FC236}">
                <a16:creationId xmlns:a16="http://schemas.microsoft.com/office/drawing/2014/main" id="{7EE66D55-7779-47CE-B8D6-8C04690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7" name="s6-header-0">
            <a:extLst xmlns:a="http://schemas.openxmlformats.org/drawingml/2006/main">
              <a:ext uri="{FF2B5EF4-FFF2-40B4-BE49-F238E27FC236}">
                <a16:creationId xmlns:a16="http://schemas.microsoft.com/office/drawing/2014/main" id="{2E42900E-6612-4610-A159-48DD3B88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PROTOCOL</a:t>
            </a:r>
          </a:p>
        </p:txBody>
      </p:sp>
      <p:sp>
        <p:nvSpPr>
          <p:cNvPr id="8" name="s6-header-1">
            <a:extLst xmlns:a="http://schemas.openxmlformats.org/drawingml/2006/main">
              <a:ext uri="{FF2B5EF4-FFF2-40B4-BE49-F238E27FC236}">
                <a16:creationId xmlns:a16="http://schemas.microsoft.com/office/drawing/2014/main" id="{FC699C9F-0A21-42D5-B589-5B2C67FD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335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BASELINE</a:t>
            </a:r>
          </a:p>
        </p:txBody>
      </p:sp>
      <p:sp>
        <p:nvSpPr>
          <p:cNvPr id="9" name="s6-header-2">
            <a:extLst xmlns:a="http://schemas.openxmlformats.org/drawingml/2006/main">
              <a:ext uri="{FF2B5EF4-FFF2-40B4-BE49-F238E27FC236}">
                <a16:creationId xmlns:a16="http://schemas.microsoft.com/office/drawing/2014/main" id="{30EF21C9-9D9C-4AB7-A884-F118AC66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335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QPS RATIO</a:t>
            </a:r>
          </a:p>
        </p:txBody>
      </p:sp>
      <p:sp>
        <p:nvSpPr>
          <p:cNvPr id="10" name="s6-header-3">
            <a:extLst xmlns:a="http://schemas.openxmlformats.org/drawingml/2006/main">
              <a:ext uri="{FF2B5EF4-FFF2-40B4-BE49-F238E27FC236}">
                <a16:creationId xmlns:a16="http://schemas.microsoft.com/office/drawing/2014/main" id="{CD68C921-86B6-4CFC-ACBA-AD12D0C5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P99</a:t>
            </a:r>
          </a:p>
        </p:txBody>
      </p:sp>
      <p:sp>
        <p:nvSpPr>
          <p:cNvPr id="11" name="s6-header-4">
            <a:extLst xmlns:a="http://schemas.openxmlformats.org/drawingml/2006/main">
              <a:ext uri="{FF2B5EF4-FFF2-40B4-BE49-F238E27FC236}">
                <a16:creationId xmlns:a16="http://schemas.microsoft.com/office/drawing/2014/main" id="{AFAEF48A-6769-4624-82B2-36D2D81B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335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BOUNDARY / INTERPRETATION</a:t>
            </a:r>
          </a:p>
        </p:txBody>
      </p:sp>
      <p:sp>
        <p:nvSpPr>
          <p:cNvPr id="12" name="s6-row-0">
            <a:extLst xmlns:a="http://schemas.openxmlformats.org/drawingml/2006/main">
              <a:ext uri="{FF2B5EF4-FFF2-40B4-BE49-F238E27FC236}">
                <a16:creationId xmlns:a16="http://schemas.microsoft.com/office/drawing/2014/main" id="{64560E32-BDA8-451D-B6DE-1292E0C6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13" name="s6-protocol-0">
            <a:extLst xmlns:a="http://schemas.openxmlformats.org/drawingml/2006/main">
              <a:ext uri="{FF2B5EF4-FFF2-40B4-BE49-F238E27FC236}">
                <a16:creationId xmlns:a16="http://schemas.microsoft.com/office/drawing/2014/main" id="{729701E8-6765-4D04-AFB5-606D42D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1932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DNS</a:t>
            </a:r>
          </a:p>
        </p:txBody>
      </p:sp>
      <p:sp>
        <p:nvSpPr>
          <p:cNvPr id="14" name="s6-baseline-0">
            <a:extLst xmlns:a="http://schemas.openxmlformats.org/drawingml/2006/main">
              <a:ext uri="{FF2B5EF4-FFF2-40B4-BE49-F238E27FC236}">
                <a16:creationId xmlns:a16="http://schemas.microsoft.com/office/drawing/2014/main" id="{77D92BBB-B8E4-471F-BA7F-42034344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1932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Xpress</a:t>
            </a:r>
          </a:p>
        </p:txBody>
      </p:sp>
      <p:sp>
        <p:nvSpPr>
          <p:cNvPr id="15" name="s6-qps-0">
            <a:extLst xmlns:a="http://schemas.openxmlformats.org/drawingml/2006/main">
              <a:ext uri="{FF2B5EF4-FFF2-40B4-BE49-F238E27FC236}">
                <a16:creationId xmlns:a16="http://schemas.microsoft.com/office/drawing/2014/main" id="{5911FE68-171F-4C87-9715-E56496FD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C"/>
          </a:solidFill>
          <a:ln xmlns:a="http://schemas.openxmlformats.org/drawingml/2006/main" w="0">
            <a:solidFill>
              <a:srgbClr val="DDF8FC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1.180x</a:t>
            </a:r>
          </a:p>
        </p:txBody>
      </p:sp>
      <p:sp>
        <p:nvSpPr>
          <p:cNvPr id="16" name="s6-p99-0">
            <a:extLst xmlns:a="http://schemas.openxmlformats.org/drawingml/2006/main">
              <a:ext uri="{FF2B5EF4-FFF2-40B4-BE49-F238E27FC236}">
                <a16:creationId xmlns:a16="http://schemas.microsoft.com/office/drawing/2014/main" id="{20F88696-B350-4C04-9C7F-45E419AB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capacity metric</a:t>
            </a:r>
          </a:p>
        </p:txBody>
      </p:sp>
      <p:sp>
        <p:nvSpPr>
          <p:cNvPr id="17" name="s6-note-0">
            <a:extLst xmlns:a="http://schemas.openxmlformats.org/drawingml/2006/main">
              <a:ext uri="{FF2B5EF4-FFF2-40B4-BE49-F238E27FC236}">
                <a16:creationId xmlns:a16="http://schemas.microsoft.com/office/drawing/2014/main" id="{CEA04742-F8C2-450D-B4A7-2DAB0589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Radar mix; +17.95% 1% loss capacity; client-limited lower bound</a:t>
            </a:r>
          </a:p>
        </p:txBody>
      </p:sp>
      <p:sp>
        <p:nvSpPr>
          <p:cNvPr id="18" name="s6-row-1">
            <a:extLst xmlns:a="http://schemas.openxmlformats.org/drawingml/2006/main">
              <a:ext uri="{FF2B5EF4-FFF2-40B4-BE49-F238E27FC236}">
                <a16:creationId xmlns:a16="http://schemas.microsoft.com/office/drawing/2014/main" id="{EDD082B4-7B95-48F6-96FB-9FFF02DB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19" name="s6-protocol-1">
            <a:extLst xmlns:a="http://schemas.openxmlformats.org/drawingml/2006/main">
              <a:ext uri="{FF2B5EF4-FFF2-40B4-BE49-F238E27FC236}">
                <a16:creationId xmlns:a16="http://schemas.microsoft.com/office/drawing/2014/main" id="{A8D33768-AC08-448F-9152-40F98AED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ARP</a:t>
            </a:r>
          </a:p>
        </p:txBody>
      </p:sp>
      <p:sp>
        <p:nvSpPr>
          <p:cNvPr id="20" name="s6-baseline-1">
            <a:extLst xmlns:a="http://schemas.openxmlformats.org/drawingml/2006/main">
              <a:ext uri="{FF2B5EF4-FFF2-40B4-BE49-F238E27FC236}">
                <a16:creationId xmlns:a16="http://schemas.microsoft.com/office/drawing/2014/main" id="{0CEF4F8F-4469-4ADA-BD5B-6F622D36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0987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kernel ARP</a:t>
            </a:r>
          </a:p>
        </p:txBody>
      </p:sp>
      <p:sp>
        <p:nvSpPr>
          <p:cNvPr id="21" name="s6-qps-1">
            <a:extLst xmlns:a="http://schemas.openxmlformats.org/drawingml/2006/main">
              <a:ext uri="{FF2B5EF4-FFF2-40B4-BE49-F238E27FC236}">
                <a16:creationId xmlns:a16="http://schemas.microsoft.com/office/drawing/2014/main" id="{B348D1A4-81A0-4E8E-8F48-69CAEB38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BF4"/>
          </a:solidFill>
          <a:ln xmlns:a="http://schemas.openxmlformats.org/drawingml/2006/main" w="0">
            <a:solidFill>
              <a:srgbClr val="E3FBF4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1.840x</a:t>
            </a:r>
          </a:p>
        </p:txBody>
      </p:sp>
      <p:sp>
        <p:nvSpPr>
          <p:cNvPr id="22" name="s6-p99-1">
            <a:extLst xmlns:a="http://schemas.openxmlformats.org/drawingml/2006/main">
              <a:ext uri="{FF2B5EF4-FFF2-40B4-BE49-F238E27FC236}">
                <a16:creationId xmlns:a16="http://schemas.microsoft.com/office/drawing/2014/main" id="{C78F93CE-8F66-46AA-995E-6FBACAF8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1.237x better</a:t>
            </a:r>
          </a:p>
        </p:txBody>
      </p:sp>
      <p:sp>
        <p:nvSpPr>
          <p:cNvPr id="23" name="s6-note-1">
            <a:extLst xmlns:a="http://schemas.openxmlformats.org/drawingml/2006/main">
              <a:ext uri="{FF2B5EF4-FFF2-40B4-BE49-F238E27FC236}">
                <a16:creationId xmlns:a16="http://schemas.microsoft.com/office/drawing/2014/main" id="{776C99E7-52CA-4DE0-88A5-1A383DFB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configured target; server capture = 0</a:t>
            </a:r>
          </a:p>
        </p:txBody>
      </p:sp>
      <p:sp>
        <p:nvSpPr>
          <p:cNvPr id="24" name="s6-row-2">
            <a:extLst xmlns:a="http://schemas.openxmlformats.org/drawingml/2006/main">
              <a:ext uri="{FF2B5EF4-FFF2-40B4-BE49-F238E27FC236}">
                <a16:creationId xmlns:a16="http://schemas.microsoft.com/office/drawing/2014/main" id="{232771CB-F714-4AF6-9D35-3D821F1C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25" name="s6-protocol-2">
            <a:extLst xmlns:a="http://schemas.openxmlformats.org/drawingml/2006/main">
              <a:ext uri="{FF2B5EF4-FFF2-40B4-BE49-F238E27FC236}">
                <a16:creationId xmlns:a16="http://schemas.microsoft.com/office/drawing/2014/main" id="{FD99A0AD-5EC9-4529-9B5B-32D570B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UDP</a:t>
            </a:r>
          </a:p>
        </p:txBody>
      </p:sp>
      <p:sp>
        <p:nvSpPr>
          <p:cNvPr id="26" name="s6-baseline-2">
            <a:extLst xmlns:a="http://schemas.openxmlformats.org/drawingml/2006/main">
              <a:ext uri="{FF2B5EF4-FFF2-40B4-BE49-F238E27FC236}">
                <a16:creationId xmlns:a16="http://schemas.microsoft.com/office/drawing/2014/main" id="{AD911855-25F4-4630-9F46-42BE240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0042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userspace</a:t>
            </a:r>
          </a:p>
        </p:txBody>
      </p:sp>
      <p:sp>
        <p:nvSpPr>
          <p:cNvPr id="27" name="s6-qps-2">
            <a:extLst xmlns:a="http://schemas.openxmlformats.org/drawingml/2006/main">
              <a:ext uri="{FF2B5EF4-FFF2-40B4-BE49-F238E27FC236}">
                <a16:creationId xmlns:a16="http://schemas.microsoft.com/office/drawing/2014/main" id="{8AF0EFA1-7A93-4087-9B35-27A544F2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04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C"/>
          </a:solidFill>
          <a:ln xmlns:a="http://schemas.openxmlformats.org/drawingml/2006/main" w="0">
            <a:solidFill>
              <a:srgbClr val="DDF8FC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11.276x</a:t>
            </a:r>
          </a:p>
        </p:txBody>
      </p:sp>
      <p:sp>
        <p:nvSpPr>
          <p:cNvPr id="28" name="s6-p99-2">
            <a:extLst xmlns:a="http://schemas.openxmlformats.org/drawingml/2006/main">
              <a:ext uri="{FF2B5EF4-FFF2-40B4-BE49-F238E27FC236}">
                <a16:creationId xmlns:a16="http://schemas.microsoft.com/office/drawing/2014/main" id="{76627267-B31F-4556-BF6F-1B55779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0425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6.829x better</a:t>
            </a:r>
          </a:p>
        </p:txBody>
      </p:sp>
      <p:sp>
        <p:nvSpPr>
          <p:cNvPr id="29" name="s6-note-2">
            <a:extLst xmlns:a="http://schemas.openxmlformats.org/drawingml/2006/main">
              <a:ext uri="{FF2B5EF4-FFF2-40B4-BE49-F238E27FC236}">
                <a16:creationId xmlns:a16="http://schemas.microsoft.com/office/drawing/2014/main" id="{1B20D143-F3AD-407E-9F7D-48768C93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exact, deterministic, side-effect-free exchange</a:t>
            </a:r>
          </a:p>
        </p:txBody>
      </p:sp>
      <p:sp>
        <p:nvSpPr>
          <p:cNvPr id="30" name="s6-row-3">
            <a:extLst xmlns:a="http://schemas.openxmlformats.org/drawingml/2006/main">
              <a:ext uri="{FF2B5EF4-FFF2-40B4-BE49-F238E27FC236}">
                <a16:creationId xmlns:a16="http://schemas.microsoft.com/office/drawing/2014/main" id="{99868EB8-AEFF-49DF-9AA2-7CCD0F48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31" name="s6-protocol-3">
            <a:extLst xmlns:a="http://schemas.openxmlformats.org/drawingml/2006/main">
              <a:ext uri="{FF2B5EF4-FFF2-40B4-BE49-F238E27FC236}">
                <a16:creationId xmlns:a16="http://schemas.microsoft.com/office/drawing/2014/main" id="{30154EC4-1F03-46EF-8531-AD1A187C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LDAP</a:t>
            </a:r>
          </a:p>
        </p:txBody>
      </p:sp>
      <p:sp>
        <p:nvSpPr>
          <p:cNvPr id="32" name="s6-baseline-3">
            <a:extLst xmlns:a="http://schemas.openxmlformats.org/drawingml/2006/main">
              <a:ext uri="{FF2B5EF4-FFF2-40B4-BE49-F238E27FC236}">
                <a16:creationId xmlns:a16="http://schemas.microsoft.com/office/drawing/2014/main" id="{BE2685A0-CA5D-49DE-9545-480CFB9F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9097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userspace proxy</a:t>
            </a:r>
          </a:p>
        </p:txBody>
      </p:sp>
      <p:sp>
        <p:nvSpPr>
          <p:cNvPr id="33" name="s6-qps-3">
            <a:extLst xmlns:a="http://schemas.openxmlformats.org/drawingml/2006/main">
              <a:ext uri="{FF2B5EF4-FFF2-40B4-BE49-F238E27FC236}">
                <a16:creationId xmlns:a16="http://schemas.microsoft.com/office/drawing/2014/main" id="{989A1B2D-A227-4407-A5FC-5FE93094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9097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FFF2D8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5A0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8A5A00"/>
                </a:solidFill>
                <a:latin typeface="Hiragino Sans"/>
                <a:ea typeface="Hiragino Sans"/>
                <a:cs typeface="Hiragino Sans"/>
              </a:rPr>
              <a:t>0.882x</a:t>
            </a:r>
          </a:p>
        </p:txBody>
      </p:sp>
      <p:sp>
        <p:nvSpPr>
          <p:cNvPr id="34" name="s6-p99-3">
            <a:extLst xmlns:a="http://schemas.openxmlformats.org/drawingml/2006/main">
              <a:ext uri="{FF2B5EF4-FFF2-40B4-BE49-F238E27FC236}">
                <a16:creationId xmlns:a16="http://schemas.microsoft.com/office/drawing/2014/main" id="{9A2A34D6-6773-4877-86C0-0FE51C2E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0975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5A0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8A5A00"/>
                </a:solidFill>
                <a:latin typeface="Hiragino Sans"/>
                <a:ea typeface="Hiragino Sans"/>
                <a:cs typeface="Hiragino Sans"/>
              </a:rPr>
              <a:t>0.877x</a:t>
            </a:r>
          </a:p>
        </p:txBody>
      </p:sp>
      <p:sp>
        <p:nvSpPr>
          <p:cNvPr id="35" name="s6-note-3">
            <a:extLst xmlns:a="http://schemas.openxmlformats.org/drawingml/2006/main">
              <a:ext uri="{FF2B5EF4-FFF2-40B4-BE49-F238E27FC236}">
                <a16:creationId xmlns:a16="http://schemas.microsoft.com/office/drawing/2014/main" id="{9FC449C3-8FDD-497D-84F6-D05D42C4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slower; proxy CPU 14.02 s → 0.02 s</a:t>
            </a:r>
          </a:p>
        </p:txBody>
      </p:sp>
      <p:sp>
        <p:nvSpPr>
          <p:cNvPr id="36" name="s6-row-4">
            <a:extLst xmlns:a="http://schemas.openxmlformats.org/drawingml/2006/main">
              <a:ext uri="{FF2B5EF4-FFF2-40B4-BE49-F238E27FC236}">
                <a16:creationId xmlns:a16="http://schemas.microsoft.com/office/drawing/2014/main" id="{A22F0335-B952-4852-9C98-6937DB4F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37" name="s6-protocol-4">
            <a:extLst xmlns:a="http://schemas.openxmlformats.org/drawingml/2006/main">
              <a:ext uri="{FF2B5EF4-FFF2-40B4-BE49-F238E27FC236}">
                <a16:creationId xmlns:a16="http://schemas.microsoft.com/office/drawing/2014/main" id="{52CF08E1-F2D6-437A-9B5B-3920E309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gRPC</a:t>
            </a:r>
          </a:p>
        </p:txBody>
      </p:sp>
      <p:sp>
        <p:nvSpPr>
          <p:cNvPr id="38" name="s6-baseline-4">
            <a:extLst xmlns:a="http://schemas.openxmlformats.org/drawingml/2006/main">
              <a:ext uri="{FF2B5EF4-FFF2-40B4-BE49-F238E27FC236}">
                <a16:creationId xmlns:a16="http://schemas.microsoft.com/office/drawing/2014/main" id="{8993ADE8-31BA-4A1B-9497-B4D2B434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8152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delayed demo</a:t>
            </a:r>
          </a:p>
        </p:txBody>
      </p:sp>
      <p:sp>
        <p:nvSpPr>
          <p:cNvPr id="39" name="s6-qps-4">
            <a:extLst xmlns:a="http://schemas.openxmlformats.org/drawingml/2006/main">
              <a:ext uri="{FF2B5EF4-FFF2-40B4-BE49-F238E27FC236}">
                <a16:creationId xmlns:a16="http://schemas.microsoft.com/office/drawing/2014/main" id="{55E57C5F-045B-49AA-90FA-56357D60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815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C"/>
          </a:solidFill>
          <a:ln xmlns:a="http://schemas.openxmlformats.org/drawingml/2006/main" w="0">
            <a:solidFill>
              <a:srgbClr val="DDF8FC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12.645x</a:t>
            </a:r>
          </a:p>
        </p:txBody>
      </p:sp>
      <p:sp>
        <p:nvSpPr>
          <p:cNvPr id="40" name="s6-p99-4">
            <a:extLst xmlns:a="http://schemas.openxmlformats.org/drawingml/2006/main">
              <a:ext uri="{FF2B5EF4-FFF2-40B4-BE49-F238E27FC236}">
                <a16:creationId xmlns:a16="http://schemas.microsoft.com/office/drawing/2014/main" id="{4449587E-0C9D-4F34-945A-5E43370F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81525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12.030x better</a:t>
            </a:r>
          </a:p>
        </p:txBody>
      </p:sp>
      <p:sp>
        <p:nvSpPr>
          <p:cNvPr id="41" name="s6-note-4">
            <a:extLst xmlns:a="http://schemas.openxmlformats.org/drawingml/2006/main">
              <a:ext uri="{FF2B5EF4-FFF2-40B4-BE49-F238E27FC236}">
                <a16:creationId xmlns:a16="http://schemas.microsoft.com/office/drawing/2014/main" id="{3A1169B2-1E1C-4C1C-879B-52F49975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300 us simulated backend; mechanism result</a:t>
            </a:r>
          </a:p>
        </p:txBody>
      </p:sp>
      <p:sp>
        <p:nvSpPr>
          <p:cNvPr id="42" name="s6-row-5">
            <a:extLst xmlns:a="http://schemas.openxmlformats.org/drawingml/2006/main">
              <a:ext uri="{FF2B5EF4-FFF2-40B4-BE49-F238E27FC236}">
                <a16:creationId xmlns:a16="http://schemas.microsoft.com/office/drawing/2014/main" id="{4BBA2140-A347-443A-A764-A6C22923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DD9E4"/>
            </a:solidFill>
            <a:prstDash val="solid"/>
          </a:ln>
        </p:spPr>
      </p:sp>
      <p:sp>
        <p:nvSpPr>
          <p:cNvPr id="43" name="s6-protocol-5">
            <a:extLst xmlns:a="http://schemas.openxmlformats.org/drawingml/2006/main">
              <a:ext uri="{FF2B5EF4-FFF2-40B4-BE49-F238E27FC236}">
                <a16:creationId xmlns:a16="http://schemas.microsoft.com/office/drawing/2014/main" id="{7440F6B1-BE20-4EBC-BE14-62F9A0FA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DHCP</a:t>
            </a:r>
          </a:p>
        </p:txBody>
      </p:sp>
      <p:sp>
        <p:nvSpPr>
          <p:cNvPr id="44" name="s6-baseline-5">
            <a:extLst xmlns:a="http://schemas.openxmlformats.org/drawingml/2006/main">
              <a:ext uri="{FF2B5EF4-FFF2-40B4-BE49-F238E27FC236}">
                <a16:creationId xmlns:a16="http://schemas.microsoft.com/office/drawing/2014/main" id="{0618BC68-B460-4B36-86D7-30943BB0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7207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relay semantics</a:t>
            </a:r>
          </a:p>
        </p:txBody>
      </p:sp>
      <p:sp>
        <p:nvSpPr>
          <p:cNvPr id="45" name="s6-qps-5">
            <a:extLst xmlns:a="http://schemas.openxmlformats.org/drawingml/2006/main">
              <a:ext uri="{FF2B5EF4-FFF2-40B4-BE49-F238E27FC236}">
                <a16:creationId xmlns:a16="http://schemas.microsoft.com/office/drawing/2014/main" id="{3C4539E3-8CCF-4347-AB5E-A2560E50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7207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—</a:t>
            </a:r>
          </a:p>
        </p:txBody>
      </p:sp>
      <p:sp>
        <p:nvSpPr>
          <p:cNvPr id="46" name="s6-p99-5">
            <a:extLst xmlns:a="http://schemas.openxmlformats.org/drawingml/2006/main">
              <a:ext uri="{FF2B5EF4-FFF2-40B4-BE49-F238E27FC236}">
                <a16:creationId xmlns:a16="http://schemas.microsoft.com/office/drawing/2014/main" id="{FA91F9D6-B2C5-46BB-B279-D5E668AB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72075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—</a:t>
            </a:r>
          </a:p>
        </p:txBody>
      </p:sp>
      <p:sp>
        <p:nvSpPr>
          <p:cNvPr id="47" name="s6-note-5">
            <a:extLst xmlns:a="http://schemas.openxmlformats.org/drawingml/2006/main">
              <a:ext uri="{FF2B5EF4-FFF2-40B4-BE49-F238E27FC236}">
                <a16:creationId xmlns:a16="http://schemas.microsoft.com/office/drawing/2014/main" id="{A59E0925-5E95-4A3F-9606-E94C1723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stateful forwarding; correctness gate only</a:t>
            </a:r>
          </a:p>
        </p:txBody>
      </p:sp>
      <p:sp>
        <p:nvSpPr>
          <p:cNvPr id="48" name="s6-ldap-boundary">
            <a:extLst xmlns:a="http://schemas.openxmlformats.org/drawingml/2006/main">
              <a:ext uri="{FF2B5EF4-FFF2-40B4-BE49-F238E27FC236}">
                <a16:creationId xmlns:a16="http://schemas.microsoft.com/office/drawing/2014/main" id="{64189073-4A09-4F26-BE5A-CDFC810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FFF2D8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5A0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8A5A00"/>
                </a:solidFill>
                <a:latin typeface="Hiragino Sans"/>
                <a:ea typeface="Hiragino Sans"/>
                <a:cs typeface="Hiragino Sans"/>
              </a:rPr>
              <a:t>LDAP 不是 latency win，而是 CPU offload</a:t>
            </a:r>
          </a:p>
        </p:txBody>
      </p:sp>
      <p:sp>
        <p:nvSpPr>
          <p:cNvPr id="49" name="s6-boundary-note">
            <a:extLst xmlns:a="http://schemas.openxmlformats.org/drawingml/2006/main">
              <a:ext uri="{FF2B5EF4-FFF2-40B4-BE49-F238E27FC236}">
                <a16:creationId xmlns:a16="http://schemas.microsoft.com/office/drawing/2014/main" id="{9D569C8B-8F61-4895-8AEA-51DD0174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48350"/>
            <a:ext cx="6515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其余协议的结果也只在各自的流量与语义边界内成立。</a:t>
            </a:r>
          </a:p>
        </p:txBody>
      </p:sp>
      <p:sp>
        <p:nvSpPr>
          <p:cNvPr id="50" name="s6-footer-line">
            <a:extLst xmlns:a="http://schemas.openxmlformats.org/drawingml/2006/main">
              <a:ext uri="{FF2B5EF4-FFF2-40B4-BE49-F238E27FC236}">
                <a16:creationId xmlns:a16="http://schemas.microsoft.com/office/drawing/2014/main" id="{F9236D96-CC2D-422A-B221-1FFF522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4"/>
          </a:solidFill>
          <a:ln xmlns:a="http://schemas.openxmlformats.org/drawingml/2006/main" w="0">
            <a:solidFill>
              <a:srgbClr val="CDD9E4"/>
            </a:solidFill>
            <a:prstDash val="solid"/>
          </a:ln>
        </p:spPr>
      </p:sp>
      <p:sp>
        <p:nvSpPr>
          <p:cNvPr id="51" name="s6-footer-source">
            <a:extLst xmlns:a="http://schemas.openxmlformats.org/drawingml/2006/main">
              <a:ext uri="{FF2B5EF4-FFF2-40B4-BE49-F238E27FC236}">
                <a16:creationId xmlns:a16="http://schemas.microsoft.com/office/drawing/2014/main" id="{CE1B522C-E1CE-4CD8-9153-3F19762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9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07287"/>
                </a:solidFill>
                <a:latin typeface="Menlo"/>
                <a:ea typeface="Menlo"/>
                <a:cs typeface="Menlo"/>
              </a:rPr>
              <a:t>Protocol matrix: 6-run medians · current correctness gates passed · Kubernetes remained inactive</a:t>
            </a:r>
          </a:p>
        </p:txBody>
      </p:sp>
    </p:spTree>
    <p:extLst>
      <p:ext uri="{BB962C8B-B14F-4D97-AF65-F5344CB8AC3E}">
        <p14:creationId xmlns:p14="http://schemas.microsoft.com/office/powerpoint/2010/main" val="16326906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7-background">
            <a:extLst xmlns:a="http://schemas.openxmlformats.org/drawingml/2006/main">
              <a:ext uri="{FF2B5EF4-FFF2-40B4-BE49-F238E27FC236}">
                <a16:creationId xmlns:a16="http://schemas.microsoft.com/office/drawing/2014/main" id="{918286A9-D187-4577-A1E9-0092589F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5"/>
          </a:solidFill>
          <a:ln xmlns:a="http://schemas.openxmlformats.org/drawingml/2006/main" w="0">
            <a:solidFill>
              <a:srgbClr val="071625"/>
            </a:solidFill>
            <a:prstDash val="solid"/>
          </a:ln>
        </p:spPr>
      </p:sp>
      <p:sp>
        <p:nvSpPr>
          <p:cNvPr id="2" name="s7-accent">
            <a:extLst xmlns:a="http://schemas.openxmlformats.org/drawingml/2006/main">
              <a:ext uri="{FF2B5EF4-FFF2-40B4-BE49-F238E27FC236}">
                <a16:creationId xmlns:a16="http://schemas.microsoft.com/office/drawing/2014/main" id="{B2515B56-9A52-4F7A-813E-59DB264B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8E6"/>
          </a:solidFill>
          <a:ln xmlns:a="http://schemas.openxmlformats.org/drawingml/2006/main" w="0">
            <a:solidFill>
              <a:srgbClr val="19C8E6"/>
            </a:solidFill>
            <a:prstDash val="solid"/>
          </a:ln>
        </p:spPr>
      </p:sp>
      <p:sp>
        <p:nvSpPr>
          <p:cNvPr id="3" name="s7-kicker">
            <a:extLst xmlns:a="http://schemas.openxmlformats.org/drawingml/2006/main">
              <a:ext uri="{FF2B5EF4-FFF2-40B4-BE49-F238E27FC236}">
                <a16:creationId xmlns:a16="http://schemas.microsoft.com/office/drawing/2014/main" id="{03A07BC4-B34E-4FD5-96CB-18F09367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ANSWER</a:t>
            </a:r>
          </a:p>
        </p:txBody>
      </p:sp>
      <p:sp>
        <p:nvSpPr>
          <p:cNvPr id="4" name="s7-title">
            <a:extLst xmlns:a="http://schemas.openxmlformats.org/drawingml/2006/main">
              <a:ext uri="{FF2B5EF4-FFF2-40B4-BE49-F238E27FC236}">
                <a16:creationId xmlns:a16="http://schemas.microsoft.com/office/drawing/2014/main" id="{E20ABC87-1166-4680-9132-658AF84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"/>
            <a:ext cx="619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强于 BMC 的是体系，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不是一句“大倍数”</a:t>
            </a:r>
          </a:p>
        </p:txBody>
      </p:sp>
      <p:sp>
        <p:nvSpPr>
          <p:cNvPr id="5" name="s7-claim1-number">
            <a:extLst xmlns:a="http://schemas.openxmlformats.org/drawingml/2006/main">
              <a:ext uri="{FF2B5EF4-FFF2-40B4-BE49-F238E27FC236}">
                <a16:creationId xmlns:a16="http://schemas.microsoft.com/office/drawing/2014/main" id="{372303E6-97DA-464A-9BBB-E025F295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57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C8E6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C8E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s7-claim1-title">
            <a:extLst xmlns:a="http://schemas.openxmlformats.org/drawingml/2006/main">
              <a:ext uri="{FF2B5EF4-FFF2-40B4-BE49-F238E27FC236}">
                <a16:creationId xmlns:a16="http://schemas.microsoft.com/office/drawing/2014/main" id="{33107F55-859D-49FF-B263-6C39FFBB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526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混合热点更稳</a:t>
            </a:r>
          </a:p>
        </p:txBody>
      </p:sp>
      <p:sp>
        <p:nvSpPr>
          <p:cNvPr id="7" name="s7-claim1-body">
            <a:extLst xmlns:a="http://schemas.openxmlformats.org/drawingml/2006/main">
              <a:ext uri="{FF2B5EF4-FFF2-40B4-BE49-F238E27FC236}">
                <a16:creationId xmlns:a16="http://schemas.microsoft.com/office/drawing/2014/main" id="{961CE382-AA39-43A9-85C9-B5F871EB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552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netns +21–23%；OpenStack +32.07%；核心来自 +12–14 pp 有效卸载率。</a:t>
            </a:r>
          </a:p>
        </p:txBody>
      </p:sp>
      <p:sp>
        <p:nvSpPr>
          <p:cNvPr id="8" name="s7-claim2-number">
            <a:extLst xmlns:a="http://schemas.openxmlformats.org/drawingml/2006/main">
              <a:ext uri="{FF2B5EF4-FFF2-40B4-BE49-F238E27FC236}">
                <a16:creationId xmlns:a16="http://schemas.microsoft.com/office/drawing/2014/main" id="{48C679C2-0DB8-4E48-BE49-10F8E0EC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57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DE2BA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4DE2B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s7-claim2-title">
            <a:extLst xmlns:a="http://schemas.openxmlformats.org/drawingml/2006/main">
              <a:ext uri="{FF2B5EF4-FFF2-40B4-BE49-F238E27FC236}">
                <a16:creationId xmlns:a16="http://schemas.microsoft.com/office/drawing/2014/main" id="{2A65E77B-4411-4A04-86D5-E175D201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04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OpenStack 证据完整</a:t>
            </a:r>
          </a:p>
        </p:txBody>
      </p:sp>
      <p:sp>
        <p:nvSpPr>
          <p:cNvPr id="10" name="s7-claim2-body">
            <a:extLst xmlns:a="http://schemas.openxmlformats.org/drawingml/2006/main">
              <a:ext uri="{FF2B5EF4-FFF2-40B4-BE49-F238E27FC236}">
                <a16:creationId xmlns:a16="http://schemas.microsoft.com/office/drawing/2014/main" id="{5066738E-4D70-4791-A381-71283B5B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552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同 ABI、同 workload、跨计算节点，QPS 与 p50/p95/p99 同时更好，且零错误。</a:t>
            </a:r>
          </a:p>
        </p:txBody>
      </p:sp>
      <p:sp>
        <p:nvSpPr>
          <p:cNvPr id="11" name="s7-claim3-number">
            <a:extLst xmlns:a="http://schemas.openxmlformats.org/drawingml/2006/main">
              <a:ext uri="{FF2B5EF4-FFF2-40B4-BE49-F238E27FC236}">
                <a16:creationId xmlns:a16="http://schemas.microsoft.com/office/drawing/2014/main" id="{66581F7E-7155-42F0-938D-B8A7DE5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57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84D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FFB84D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s7-claim3-title">
            <a:extLst xmlns:a="http://schemas.openxmlformats.org/drawingml/2006/main">
              <a:ext uri="{FF2B5EF4-FFF2-40B4-BE49-F238E27FC236}">
                <a16:creationId xmlns:a16="http://schemas.microsoft.com/office/drawing/2014/main" id="{8B23D0DF-65AB-4F6C-9B23-D4B44552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工程覆盖更广</a:t>
            </a:r>
          </a:p>
        </p:txBody>
      </p:sp>
      <p:sp>
        <p:nvSpPr>
          <p:cNvPr id="13" name="s7-claim3-body">
            <a:extLst xmlns:a="http://schemas.openxmlformats.org/drawingml/2006/main">
              <a:ext uri="{FF2B5EF4-FFF2-40B4-BE49-F238E27FC236}">
                <a16:creationId xmlns:a16="http://schemas.microsoft.com/office/drawing/2014/main" id="{390E819C-9221-4349-90AA-B84B9795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552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B8C8D7"/>
                </a:solidFill>
                <a:latin typeface="Hiragino Sans"/>
                <a:ea typeface="Hiragino Sans"/>
                <a:cs typeface="Hiragino Sans"/>
              </a:rPr>
              <a:t>从单协议 cache 扩展到 DNS / ARP / UDP / gRPC / LDAP / DHCP，并具备 owner-safe 部署与恢复。</a:t>
            </a:r>
          </a:p>
        </p:txBody>
      </p:sp>
      <p:sp>
        <p:nvSpPr>
          <p:cNvPr id="14" name="s7-ledger-panel">
            <a:extLst xmlns:a="http://schemas.openxmlformats.org/drawingml/2006/main">
              <a:ext uri="{FF2B5EF4-FFF2-40B4-BE49-F238E27FC236}">
                <a16:creationId xmlns:a16="http://schemas.microsoft.com/office/drawing/2014/main" id="{21B3EEA0-ABE7-4592-BA91-2A53E8E1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"/>
            <a:ext cx="43624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s7-ledger-kicker">
            <a:extLst xmlns:a="http://schemas.openxmlformats.org/drawingml/2006/main">
              <a:ext uri="{FF2B5EF4-FFF2-40B4-BE49-F238E27FC236}">
                <a16:creationId xmlns:a16="http://schemas.microsoft.com/office/drawing/2014/main" id="{06208FE5-4B84-43BD-9F97-BE828AC0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EVIDENCE LEDGER</a:t>
            </a:r>
          </a:p>
        </p:txBody>
      </p:sp>
      <p:sp>
        <p:nvSpPr>
          <p:cNvPr id="16" name="s7-requests-value">
            <a:extLst xmlns:a="http://schemas.openxmlformats.org/drawingml/2006/main">
              <a:ext uri="{FF2B5EF4-FFF2-40B4-BE49-F238E27FC236}">
                <a16:creationId xmlns:a16="http://schemas.microsoft.com/office/drawing/2014/main" id="{15BC2C6D-9C77-407C-AD1D-629452F3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573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071625"/>
                </a:solidFill>
                <a:latin typeface="Hiragino Sans"/>
                <a:ea typeface="Hiragino Sans"/>
                <a:cs typeface="Hiragino Sans"/>
              </a:rPr>
              <a:t>207.3M</a:t>
            </a:r>
          </a:p>
        </p:txBody>
      </p:sp>
      <p:sp>
        <p:nvSpPr>
          <p:cNvPr id="17" name="s7-requests-label">
            <a:extLst xmlns:a="http://schemas.openxmlformats.org/drawingml/2006/main">
              <a:ext uri="{FF2B5EF4-FFF2-40B4-BE49-F238E27FC236}">
                <a16:creationId xmlns:a16="http://schemas.microsoft.com/office/drawing/2014/main" id="{F93CC574-D160-4F8F-9B89-8E0BFC5A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all timed requests</a:t>
            </a:r>
          </a:p>
        </p:txBody>
      </p:sp>
      <p:sp>
        <p:nvSpPr>
          <p:cNvPr id="18" name="s7-errors-value">
            <a:extLst xmlns:a="http://schemas.openxmlformats.org/drawingml/2006/main">
              <a:ext uri="{FF2B5EF4-FFF2-40B4-BE49-F238E27FC236}">
                <a16:creationId xmlns:a16="http://schemas.microsoft.com/office/drawing/2014/main" id="{CE13FD76-E137-4B07-A7D4-57DF789C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573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9C8E6"/>
                </a:solidFill>
                <a:latin typeface="Hiragino Sans"/>
                <a:ea typeface="Hiragino Sans"/>
                <a:cs typeface="Hiragino Sans"/>
              </a:rPr>
              <a:t>0</a:t>
            </a:r>
          </a:p>
        </p:txBody>
      </p:sp>
      <p:sp>
        <p:nvSpPr>
          <p:cNvPr id="19" name="s7-errors-label">
            <a:extLst xmlns:a="http://schemas.openxmlformats.org/drawingml/2006/main">
              <a:ext uri="{FF2B5EF4-FFF2-40B4-BE49-F238E27FC236}">
                <a16:creationId xmlns:a16="http://schemas.microsoft.com/office/drawing/2014/main" id="{60608D41-09A5-4D45-8F8A-38F2BCF3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failure / checksum / softnet drop</a:t>
            </a:r>
          </a:p>
        </p:txBody>
      </p:sp>
      <p:sp>
        <p:nvSpPr>
          <p:cNvPr id="20" name="s7-ledger-divider1">
            <a:extLst xmlns:a="http://schemas.openxmlformats.org/drawingml/2006/main">
              <a:ext uri="{FF2B5EF4-FFF2-40B4-BE49-F238E27FC236}">
                <a16:creationId xmlns:a16="http://schemas.microsoft.com/office/drawing/2014/main" id="{D8AF7BA9-97B9-4A6F-8487-CC1262D5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4"/>
          </a:solidFill>
          <a:ln xmlns:a="http://schemas.openxmlformats.org/drawingml/2006/main" w="0">
            <a:solidFill>
              <a:srgbClr val="CDD9E4"/>
            </a:solidFill>
            <a:prstDash val="solid"/>
          </a:ln>
        </p:spPr>
      </p:sp>
      <p:sp>
        <p:nvSpPr>
          <p:cNvPr id="21" name="s7-pinned-label">
            <a:extLst xmlns:a="http://schemas.openxmlformats.org/drawingml/2006/main">
              <a:ext uri="{FF2B5EF4-FFF2-40B4-BE49-F238E27FC236}">
                <a16:creationId xmlns:a16="http://schemas.microsoft.com/office/drawing/2014/main" id="{14561E2F-C0E0-4132-B785-D9FCE02A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431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Pinned competitor</a:t>
            </a:r>
          </a:p>
        </p:txBody>
      </p:sp>
      <p:sp>
        <p:nvSpPr>
          <p:cNvPr id="22" name="s7-pinned-value">
            <a:extLst xmlns:a="http://schemas.openxmlformats.org/drawingml/2006/main">
              <a:ext uri="{FF2B5EF4-FFF2-40B4-BE49-F238E27FC236}">
                <a16:creationId xmlns:a16="http://schemas.microsoft.com/office/drawing/2014/main" id="{FD60AEAE-4622-4672-B57E-60499E64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2412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162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625"/>
                </a:solidFill>
                <a:latin typeface="Menlo"/>
                <a:ea typeface="Menlo"/>
                <a:cs typeface="Menlo"/>
              </a:rPr>
              <a:t>BMC 2997145508e0</a:t>
            </a:r>
          </a:p>
        </p:txBody>
      </p:sp>
      <p:sp>
        <p:nvSpPr>
          <p:cNvPr id="23" name="s7-runtime-label">
            <a:extLst xmlns:a="http://schemas.openxmlformats.org/drawingml/2006/main">
              <a:ext uri="{FF2B5EF4-FFF2-40B4-BE49-F238E27FC236}">
                <a16:creationId xmlns:a16="http://schemas.microsoft.com/office/drawing/2014/main" id="{904D0B72-21CD-48CD-A340-358EB75C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Runtime</a:t>
            </a:r>
          </a:p>
        </p:txBody>
      </p:sp>
      <p:sp>
        <p:nvSpPr>
          <p:cNvPr id="24" name="s7-runtime-value">
            <a:extLst xmlns:a="http://schemas.openxmlformats.org/drawingml/2006/main">
              <a:ext uri="{FF2B5EF4-FFF2-40B4-BE49-F238E27FC236}">
                <a16:creationId xmlns:a16="http://schemas.microsoft.com/office/drawing/2014/main" id="{73660450-0ECB-4D70-A71E-65885837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162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625"/>
                </a:solidFill>
                <a:latin typeface="Menlo"/>
                <a:ea typeface="Menlo"/>
                <a:cs typeface="Menlo"/>
              </a:rPr>
              <a:t>Linux 7.0 · K8s OFF</a:t>
            </a:r>
          </a:p>
        </p:txBody>
      </p:sp>
      <p:sp>
        <p:nvSpPr>
          <p:cNvPr id="25" name="s7-cleanup-label">
            <a:extLst xmlns:a="http://schemas.openxmlformats.org/drawingml/2006/main">
              <a:ext uri="{FF2B5EF4-FFF2-40B4-BE49-F238E27FC236}">
                <a16:creationId xmlns:a16="http://schemas.microsoft.com/office/drawing/2014/main" id="{08CD70BF-3410-402A-AE51-8E13563F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04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07287"/>
                </a:solidFill>
                <a:latin typeface="Hiragino Sans"/>
                <a:ea typeface="Hiragino Sans"/>
                <a:cs typeface="Hiragino Sans"/>
              </a:rPr>
              <a:t>Cleanup</a:t>
            </a:r>
          </a:p>
        </p:txBody>
      </p:sp>
      <p:sp>
        <p:nvSpPr>
          <p:cNvPr id="26" name="s7-cleanup-value">
            <a:extLst xmlns:a="http://schemas.openxmlformats.org/drawingml/2006/main">
              <a:ext uri="{FF2B5EF4-FFF2-40B4-BE49-F238E27FC236}">
                <a16:creationId xmlns:a16="http://schemas.microsoft.com/office/drawing/2014/main" id="{D4B2B2E8-0BF9-4B75-97DA-A3C77D01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8137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71625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71625"/>
                </a:solidFill>
                <a:latin typeface="Menlo"/>
                <a:ea typeface="Menlo"/>
                <a:cs typeface="Menlo"/>
              </a:rPr>
              <a:t>hooks empty · qdisc noqueue</a:t>
            </a:r>
          </a:p>
        </p:txBody>
      </p:sp>
      <p:sp>
        <p:nvSpPr>
          <p:cNvPr id="27" name="s7-ledger-divider2">
            <a:extLst xmlns:a="http://schemas.openxmlformats.org/drawingml/2006/main">
              <a:ext uri="{FF2B5EF4-FFF2-40B4-BE49-F238E27FC236}">
                <a16:creationId xmlns:a16="http://schemas.microsoft.com/office/drawing/2014/main" id="{51D951CE-C516-4D18-B14A-D50C0B1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4"/>
          </a:solidFill>
          <a:ln xmlns:a="http://schemas.openxmlformats.org/drawingml/2006/main" w="0">
            <a:solidFill>
              <a:srgbClr val="CDD9E4"/>
            </a:solidFill>
            <a:prstDash val="solid"/>
          </a:ln>
        </p:spPr>
      </p:sp>
      <p:sp>
        <p:nvSpPr>
          <p:cNvPr id="28" name="s7-gap-label">
            <a:extLst xmlns:a="http://schemas.openxmlformats.org/drawingml/2006/main">
              <a:ext uri="{FF2B5EF4-FFF2-40B4-BE49-F238E27FC236}">
                <a16:creationId xmlns:a16="http://schemas.microsoft.com/office/drawing/2014/main" id="{88A18A99-1F44-4698-AED4-CFCC39F6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6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7262"/>
                </a:solidFill>
                <a:latin typeface="Hiragino Sans"/>
                <a:ea typeface="Hiragino Sans"/>
                <a:cs typeface="Hiragino Sans"/>
              </a:rPr>
              <a:t>尚未覆盖</a:t>
            </a:r>
          </a:p>
        </p:txBody>
      </p:sp>
      <p:sp>
        <p:nvSpPr>
          <p:cNvPr id="29" name="s7-gap-value">
            <a:extLst xmlns:a="http://schemas.openxmlformats.org/drawingml/2006/main">
              <a:ext uri="{FF2B5EF4-FFF2-40B4-BE49-F238E27FC236}">
                <a16:creationId xmlns:a16="http://schemas.microsoft.com/office/drawing/2014/main" id="{59C3D83D-8D5B-4643-AEF9-02923828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05275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physical NIC native XDP</a:t>
            </a:r>
          </a:p>
          <a:p xmlns:a="http://schemas.openxmlformats.org/drawingml/2006/main">
            <a:pPr algn="r">
              <a:def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2A4359"/>
                </a:solidFill>
                <a:latin typeface="Hiragino Sans"/>
                <a:ea typeface="Hiragino Sans"/>
                <a:cs typeface="Hiragino Sans"/>
              </a:rPr>
              <a:t>stock r8169 on node1</a:t>
            </a:r>
          </a:p>
        </p:txBody>
      </p:sp>
      <p:sp>
        <p:nvSpPr>
          <p:cNvPr id="30" name="s7-next-step">
            <a:extLst xmlns:a="http://schemas.openxmlformats.org/drawingml/2006/main">
              <a:ext uri="{FF2B5EF4-FFF2-40B4-BE49-F238E27FC236}">
                <a16:creationId xmlns:a16="http://schemas.microsoft.com/office/drawing/2014/main" id="{9133950D-84E2-465F-BE10-1BF15B42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726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7262"/>
                </a:solidFill>
                <a:latin typeface="Hiragino Sans"/>
                <a:ea typeface="Hiragino Sans"/>
                <a:cs typeface="Hiragino Sans"/>
              </a:rPr>
              <a:t>下一步：OOB rebind + watchdog native</a:t>
            </a:r>
          </a:p>
        </p:txBody>
      </p:sp>
      <p:sp>
        <p:nvSpPr>
          <p:cNvPr id="31" name="s7-footer-line">
            <a:extLst xmlns:a="http://schemas.openxmlformats.org/drawingml/2006/main">
              <a:ext uri="{FF2B5EF4-FFF2-40B4-BE49-F238E27FC236}">
                <a16:creationId xmlns:a16="http://schemas.microsoft.com/office/drawing/2014/main" id="{E339A9DF-A388-43F5-9F95-AE960854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359"/>
          </a:solidFill>
          <a:ln xmlns:a="http://schemas.openxmlformats.org/drawingml/2006/main" w="0">
            <a:solidFill>
              <a:srgbClr val="2A4359"/>
            </a:solidFill>
            <a:prstDash val="solid"/>
          </a:ln>
        </p:spPr>
      </p:sp>
      <p:sp>
        <p:nvSpPr>
          <p:cNvPr id="32" name="s7-closing-line">
            <a:extLst xmlns:a="http://schemas.openxmlformats.org/drawingml/2006/main">
              <a:ext uri="{FF2B5EF4-FFF2-40B4-BE49-F238E27FC236}">
                <a16:creationId xmlns:a16="http://schemas.microsoft.com/office/drawing/2014/main" id="{5BC1769A-C86D-476A-BE33-C6F37914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结论边界清楚，才是可信的性能优势。</a:t>
            </a:r>
          </a:p>
        </p:txBody>
      </p:sp>
      <p:sp>
        <p:nvSpPr>
          <p:cNvPr id="33" name="s7-page">
            <a:extLst xmlns:a="http://schemas.openxmlformats.org/drawingml/2006/main">
              <a:ext uri="{FF2B5EF4-FFF2-40B4-BE49-F238E27FC236}">
                <a16:creationId xmlns:a16="http://schemas.microsoft.com/office/drawing/2014/main" id="{D5F00FE8-1D33-4BAE-91A2-4A7191C8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E98A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7E98AC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4209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2026-08-14T14:03:59.0640000Z</dcterms:created>
  <dcterms:modified xsi:type="dcterms:W3CDTF">2026-08-14T14:03:59.0640000Z</dcterms:modified>
</coreProperties>
</file>